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7"/>
  </p:notes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6" r:id="rId18"/>
    <p:sldId id="275" r:id="rId19"/>
    <p:sldId id="271" r:id="rId20"/>
    <p:sldId id="272" r:id="rId21"/>
    <p:sldId id="273" r:id="rId22"/>
    <p:sldId id="277" r:id="rId23"/>
    <p:sldId id="278" r:id="rId24"/>
    <p:sldId id="274"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837BD5-DA19-4D5D-84A2-09F2C5AD390C}" v="10" dt="2026-07-15T12:50:43.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84" autoAdjust="0"/>
    <p:restoredTop sz="94660"/>
  </p:normalViewPr>
  <p:slideViewPr>
    <p:cSldViewPr snapToGrid="0">
      <p:cViewPr varScale="1">
        <p:scale>
          <a:sx n="104" d="100"/>
          <a:sy n="104" d="100"/>
        </p:scale>
        <p:origin x="16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palapati, Karthik" userId="10896c07-e94b-4063-8a62-840236d02a35" providerId="ADAL" clId="{89F15C5C-D6D2-4B00-8A04-388D2674B328}"/>
    <pc:docChg chg="undo custSel addSld modSld">
      <pc:chgData name="Uppalapati, Karthik" userId="10896c07-e94b-4063-8a62-840236d02a35" providerId="ADAL" clId="{89F15C5C-D6D2-4B00-8A04-388D2674B328}" dt="2026-07-15T12:50:58.203" v="558" actId="26606"/>
      <pc:docMkLst>
        <pc:docMk/>
      </pc:docMkLst>
      <pc:sldChg chg="modSp mod">
        <pc:chgData name="Uppalapati, Karthik" userId="10896c07-e94b-4063-8a62-840236d02a35" providerId="ADAL" clId="{89F15C5C-D6D2-4B00-8A04-388D2674B328}" dt="2026-07-15T12:43:36.497" v="217" actId="2"/>
        <pc:sldMkLst>
          <pc:docMk/>
          <pc:sldMk cId="3837812838" sldId="256"/>
        </pc:sldMkLst>
        <pc:spChg chg="mod">
          <ac:chgData name="Uppalapati, Karthik" userId="10896c07-e94b-4063-8a62-840236d02a35" providerId="ADAL" clId="{89F15C5C-D6D2-4B00-8A04-388D2674B328}" dt="2026-07-15T12:43:36.497" v="217" actId="2"/>
          <ac:spMkLst>
            <pc:docMk/>
            <pc:sldMk cId="3837812838" sldId="256"/>
            <ac:spMk id="3" creationId="{9AE7597E-87AB-0F43-46F1-FECB3F44CEC4}"/>
          </ac:spMkLst>
        </pc:spChg>
      </pc:sldChg>
      <pc:sldChg chg="modSp mod">
        <pc:chgData name="Uppalapati, Karthik" userId="10896c07-e94b-4063-8a62-840236d02a35" providerId="ADAL" clId="{89F15C5C-D6D2-4B00-8A04-388D2674B328}" dt="2026-07-15T12:43:18.861" v="181" actId="2"/>
        <pc:sldMkLst>
          <pc:docMk/>
          <pc:sldMk cId="2460375203" sldId="260"/>
        </pc:sldMkLst>
        <pc:spChg chg="mod">
          <ac:chgData name="Uppalapati, Karthik" userId="10896c07-e94b-4063-8a62-840236d02a35" providerId="ADAL" clId="{89F15C5C-D6D2-4B00-8A04-388D2674B328}" dt="2026-07-15T12:43:18.861" v="181" actId="2"/>
          <ac:spMkLst>
            <pc:docMk/>
            <pc:sldMk cId="2460375203" sldId="260"/>
            <ac:spMk id="8" creationId="{D01429CD-6906-6460-D201-F1E5E30361E0}"/>
          </ac:spMkLst>
        </pc:spChg>
      </pc:sldChg>
      <pc:sldChg chg="modSp mod">
        <pc:chgData name="Uppalapati, Karthik" userId="10896c07-e94b-4063-8a62-840236d02a35" providerId="ADAL" clId="{89F15C5C-D6D2-4B00-8A04-388D2674B328}" dt="2026-07-15T12:43:22.877" v="182" actId="2"/>
        <pc:sldMkLst>
          <pc:docMk/>
          <pc:sldMk cId="3726137064" sldId="261"/>
        </pc:sldMkLst>
        <pc:spChg chg="mod">
          <ac:chgData name="Uppalapati, Karthik" userId="10896c07-e94b-4063-8a62-840236d02a35" providerId="ADAL" clId="{89F15C5C-D6D2-4B00-8A04-388D2674B328}" dt="2026-07-15T12:43:22.877" v="182" actId="2"/>
          <ac:spMkLst>
            <pc:docMk/>
            <pc:sldMk cId="3726137064" sldId="261"/>
            <ac:spMk id="4" creationId="{E12FAA31-9717-9DE4-D5BB-98868C2059A3}"/>
          </ac:spMkLst>
        </pc:spChg>
      </pc:sldChg>
      <pc:sldChg chg="modSp mod">
        <pc:chgData name="Uppalapati, Karthik" userId="10896c07-e94b-4063-8a62-840236d02a35" providerId="ADAL" clId="{89F15C5C-D6D2-4B00-8A04-388D2674B328}" dt="2026-07-15T12:43:24.511" v="183" actId="2"/>
        <pc:sldMkLst>
          <pc:docMk/>
          <pc:sldMk cId="2010597337" sldId="262"/>
        </pc:sldMkLst>
        <pc:spChg chg="mod">
          <ac:chgData name="Uppalapati, Karthik" userId="10896c07-e94b-4063-8a62-840236d02a35" providerId="ADAL" clId="{89F15C5C-D6D2-4B00-8A04-388D2674B328}" dt="2026-07-15T12:43:24.511" v="183" actId="2"/>
          <ac:spMkLst>
            <pc:docMk/>
            <pc:sldMk cId="2010597337" sldId="262"/>
            <ac:spMk id="4" creationId="{88EC8D62-BAF9-D629-21A8-F79F86BF4825}"/>
          </ac:spMkLst>
        </pc:spChg>
      </pc:sldChg>
      <pc:sldChg chg="modSp mod">
        <pc:chgData name="Uppalapati, Karthik" userId="10896c07-e94b-4063-8a62-840236d02a35" providerId="ADAL" clId="{89F15C5C-D6D2-4B00-8A04-388D2674B328}" dt="2026-07-15T12:43:25.212" v="184" actId="2"/>
        <pc:sldMkLst>
          <pc:docMk/>
          <pc:sldMk cId="560587965" sldId="264"/>
        </pc:sldMkLst>
        <pc:spChg chg="mod">
          <ac:chgData name="Uppalapati, Karthik" userId="10896c07-e94b-4063-8a62-840236d02a35" providerId="ADAL" clId="{89F15C5C-D6D2-4B00-8A04-388D2674B328}" dt="2026-07-15T12:43:25.212" v="184" actId="2"/>
          <ac:spMkLst>
            <pc:docMk/>
            <pc:sldMk cId="560587965" sldId="264"/>
            <ac:spMk id="2" creationId="{3705D34E-05D9-F549-5D14-702BBAD94198}"/>
          </ac:spMkLst>
        </pc:spChg>
      </pc:sldChg>
      <pc:sldChg chg="modSp mod">
        <pc:chgData name="Uppalapati, Karthik" userId="10896c07-e94b-4063-8a62-840236d02a35" providerId="ADAL" clId="{89F15C5C-D6D2-4B00-8A04-388D2674B328}" dt="2026-07-15T12:43:25.811" v="185" actId="2"/>
        <pc:sldMkLst>
          <pc:docMk/>
          <pc:sldMk cId="3504414725" sldId="265"/>
        </pc:sldMkLst>
        <pc:spChg chg="mod">
          <ac:chgData name="Uppalapati, Karthik" userId="10896c07-e94b-4063-8a62-840236d02a35" providerId="ADAL" clId="{89F15C5C-D6D2-4B00-8A04-388D2674B328}" dt="2026-07-15T12:43:25.811" v="185" actId="2"/>
          <ac:spMkLst>
            <pc:docMk/>
            <pc:sldMk cId="3504414725" sldId="265"/>
            <ac:spMk id="2" creationId="{D5535CA2-8F8D-FF47-8465-9F1C944AF01D}"/>
          </ac:spMkLst>
        </pc:spChg>
      </pc:sldChg>
      <pc:sldChg chg="modSp mod">
        <pc:chgData name="Uppalapati, Karthik" userId="10896c07-e94b-4063-8a62-840236d02a35" providerId="ADAL" clId="{89F15C5C-D6D2-4B00-8A04-388D2674B328}" dt="2026-07-15T12:43:29.219" v="187" actId="2"/>
        <pc:sldMkLst>
          <pc:docMk/>
          <pc:sldMk cId="1695991484" sldId="266"/>
        </pc:sldMkLst>
        <pc:spChg chg="mod">
          <ac:chgData name="Uppalapati, Karthik" userId="10896c07-e94b-4063-8a62-840236d02a35" providerId="ADAL" clId="{89F15C5C-D6D2-4B00-8A04-388D2674B328}" dt="2026-07-15T12:43:28.574" v="186" actId="2"/>
          <ac:spMkLst>
            <pc:docMk/>
            <pc:sldMk cId="1695991484" sldId="266"/>
            <ac:spMk id="5" creationId="{D35499BE-0196-DA4E-720D-CAC093B1032A}"/>
          </ac:spMkLst>
        </pc:spChg>
        <pc:spChg chg="mod">
          <ac:chgData name="Uppalapati, Karthik" userId="10896c07-e94b-4063-8a62-840236d02a35" providerId="ADAL" clId="{89F15C5C-D6D2-4B00-8A04-388D2674B328}" dt="2026-07-15T12:43:29.219" v="187" actId="2"/>
          <ac:spMkLst>
            <pc:docMk/>
            <pc:sldMk cId="1695991484" sldId="266"/>
            <ac:spMk id="7" creationId="{1E94E06B-9CCF-0DDC-2363-478EA8A33308}"/>
          </ac:spMkLst>
        </pc:spChg>
      </pc:sldChg>
      <pc:sldChg chg="modSp mod">
        <pc:chgData name="Uppalapati, Karthik" userId="10896c07-e94b-4063-8a62-840236d02a35" providerId="ADAL" clId="{89F15C5C-D6D2-4B00-8A04-388D2674B328}" dt="2026-07-15T12:43:29.813" v="188" actId="2"/>
        <pc:sldMkLst>
          <pc:docMk/>
          <pc:sldMk cId="3046651871" sldId="267"/>
        </pc:sldMkLst>
        <pc:spChg chg="mod">
          <ac:chgData name="Uppalapati, Karthik" userId="10896c07-e94b-4063-8a62-840236d02a35" providerId="ADAL" clId="{89F15C5C-D6D2-4B00-8A04-388D2674B328}" dt="2026-07-15T12:43:29.813" v="188" actId="2"/>
          <ac:spMkLst>
            <pc:docMk/>
            <pc:sldMk cId="3046651871" sldId="267"/>
            <ac:spMk id="7" creationId="{F3A44C6D-618C-9080-F6F2-B25EB6D1F398}"/>
          </ac:spMkLst>
        </pc:spChg>
      </pc:sldChg>
      <pc:sldChg chg="modSp mod">
        <pc:chgData name="Uppalapati, Karthik" userId="10896c07-e94b-4063-8a62-840236d02a35" providerId="ADAL" clId="{89F15C5C-D6D2-4B00-8A04-388D2674B328}" dt="2026-07-15T12:43:31.317" v="195" actId="2"/>
        <pc:sldMkLst>
          <pc:docMk/>
          <pc:sldMk cId="1982449465" sldId="270"/>
        </pc:sldMkLst>
        <pc:spChg chg="mod">
          <ac:chgData name="Uppalapati, Karthik" userId="10896c07-e94b-4063-8a62-840236d02a35" providerId="ADAL" clId="{89F15C5C-D6D2-4B00-8A04-388D2674B328}" dt="2026-07-15T12:43:30.273" v="190" actId="2"/>
          <ac:spMkLst>
            <pc:docMk/>
            <pc:sldMk cId="1982449465" sldId="270"/>
            <ac:spMk id="11" creationId="{DB5516FA-600F-DB35-17AA-4F60578ACD49}"/>
          </ac:spMkLst>
        </pc:spChg>
        <pc:spChg chg="mod">
          <ac:chgData name="Uppalapati, Karthik" userId="10896c07-e94b-4063-8a62-840236d02a35" providerId="ADAL" clId="{89F15C5C-D6D2-4B00-8A04-388D2674B328}" dt="2026-07-15T12:43:31.317" v="195" actId="2"/>
          <ac:spMkLst>
            <pc:docMk/>
            <pc:sldMk cId="1982449465" sldId="270"/>
            <ac:spMk id="12" creationId="{9DCEB9F6-5F6D-6C3A-3977-EEEB9EE643B3}"/>
          </ac:spMkLst>
        </pc:spChg>
      </pc:sldChg>
      <pc:sldChg chg="modSp mod">
        <pc:chgData name="Uppalapati, Karthik" userId="10896c07-e94b-4063-8a62-840236d02a35" providerId="ADAL" clId="{89F15C5C-D6D2-4B00-8A04-388D2674B328}" dt="2026-07-15T12:43:34.895" v="212" actId="2"/>
        <pc:sldMkLst>
          <pc:docMk/>
          <pc:sldMk cId="88275240" sldId="272"/>
        </pc:sldMkLst>
        <pc:spChg chg="mod">
          <ac:chgData name="Uppalapati, Karthik" userId="10896c07-e94b-4063-8a62-840236d02a35" providerId="ADAL" clId="{89F15C5C-D6D2-4B00-8A04-388D2674B328}" dt="2026-07-15T12:43:34.013" v="208" actId="2"/>
          <ac:spMkLst>
            <pc:docMk/>
            <pc:sldMk cId="88275240" sldId="272"/>
            <ac:spMk id="4" creationId="{96A69E14-5D7B-0D66-6733-2D8F9333046E}"/>
          </ac:spMkLst>
        </pc:spChg>
        <pc:spChg chg="mod">
          <ac:chgData name="Uppalapati, Karthik" userId="10896c07-e94b-4063-8a62-840236d02a35" providerId="ADAL" clId="{89F15C5C-D6D2-4B00-8A04-388D2674B328}" dt="2026-07-15T12:43:34.895" v="212" actId="2"/>
          <ac:spMkLst>
            <pc:docMk/>
            <pc:sldMk cId="88275240" sldId="272"/>
            <ac:spMk id="5" creationId="{58A97522-33F7-4F34-3C19-A1C54E103441}"/>
          </ac:spMkLst>
        </pc:spChg>
      </pc:sldChg>
      <pc:sldChg chg="modSp mod">
        <pc:chgData name="Uppalapati, Karthik" userId="10896c07-e94b-4063-8a62-840236d02a35" providerId="ADAL" clId="{89F15C5C-D6D2-4B00-8A04-388D2674B328}" dt="2026-07-15T12:43:35.573" v="215" actId="2"/>
        <pc:sldMkLst>
          <pc:docMk/>
          <pc:sldMk cId="1952711808" sldId="274"/>
        </pc:sldMkLst>
        <pc:spChg chg="mod">
          <ac:chgData name="Uppalapati, Karthik" userId="10896c07-e94b-4063-8a62-840236d02a35" providerId="ADAL" clId="{89F15C5C-D6D2-4B00-8A04-388D2674B328}" dt="2026-07-15T12:43:35.573" v="215" actId="2"/>
          <ac:spMkLst>
            <pc:docMk/>
            <pc:sldMk cId="1952711808" sldId="274"/>
            <ac:spMk id="3" creationId="{27A9A71D-A29A-3CA3-0617-C988ABD926BB}"/>
          </ac:spMkLst>
        </pc:spChg>
      </pc:sldChg>
      <pc:sldChg chg="modSp mod">
        <pc:chgData name="Uppalapati, Karthik" userId="10896c07-e94b-4063-8a62-840236d02a35" providerId="ADAL" clId="{89F15C5C-D6D2-4B00-8A04-388D2674B328}" dt="2026-07-15T12:43:32.143" v="199" actId="2"/>
        <pc:sldMkLst>
          <pc:docMk/>
          <pc:sldMk cId="2620983846" sldId="275"/>
        </pc:sldMkLst>
        <pc:spChg chg="mod">
          <ac:chgData name="Uppalapati, Karthik" userId="10896c07-e94b-4063-8a62-840236d02a35" providerId="ADAL" clId="{89F15C5C-D6D2-4B00-8A04-388D2674B328}" dt="2026-07-15T12:43:31.508" v="196" actId="2"/>
          <ac:spMkLst>
            <pc:docMk/>
            <pc:sldMk cId="2620983846" sldId="275"/>
            <ac:spMk id="3" creationId="{29AA0712-2B7D-44D7-32DA-B0B09623E271}"/>
          </ac:spMkLst>
        </pc:spChg>
        <pc:spChg chg="mod">
          <ac:chgData name="Uppalapati, Karthik" userId="10896c07-e94b-4063-8a62-840236d02a35" providerId="ADAL" clId="{89F15C5C-D6D2-4B00-8A04-388D2674B328}" dt="2026-07-15T12:43:32.143" v="199" actId="2"/>
          <ac:spMkLst>
            <pc:docMk/>
            <pc:sldMk cId="2620983846" sldId="275"/>
            <ac:spMk id="12" creationId="{52D1399B-95C1-76D3-F14C-6B25954DCD52}"/>
          </ac:spMkLst>
        </pc:spChg>
      </pc:sldChg>
      <pc:sldChg chg="modSp mod">
        <pc:chgData name="Uppalapati, Karthik" userId="10896c07-e94b-4063-8a62-840236d02a35" providerId="ADAL" clId="{89F15C5C-D6D2-4B00-8A04-388D2674B328}" dt="2026-07-15T12:43:35.101" v="213" actId="2"/>
        <pc:sldMkLst>
          <pc:docMk/>
          <pc:sldMk cId="1647970636" sldId="277"/>
        </pc:sldMkLst>
        <pc:spChg chg="mod">
          <ac:chgData name="Uppalapati, Karthik" userId="10896c07-e94b-4063-8a62-840236d02a35" providerId="ADAL" clId="{89F15C5C-D6D2-4B00-8A04-388D2674B328}" dt="2026-07-15T12:43:35.101" v="213" actId="2"/>
          <ac:spMkLst>
            <pc:docMk/>
            <pc:sldMk cId="1647970636" sldId="277"/>
            <ac:spMk id="3" creationId="{973B51A8-B1C2-70F4-1CFA-CF4703E9D4A5}"/>
          </ac:spMkLst>
        </pc:spChg>
      </pc:sldChg>
      <pc:sldChg chg="modSp mod">
        <pc:chgData name="Uppalapati, Karthik" userId="10896c07-e94b-4063-8a62-840236d02a35" providerId="ADAL" clId="{89F15C5C-D6D2-4B00-8A04-388D2674B328}" dt="2026-07-15T12:50:25.703" v="543" actId="20577"/>
        <pc:sldMkLst>
          <pc:docMk/>
          <pc:sldMk cId="2251876675" sldId="278"/>
        </pc:sldMkLst>
        <pc:spChg chg="mod">
          <ac:chgData name="Uppalapati, Karthik" userId="10896c07-e94b-4063-8a62-840236d02a35" providerId="ADAL" clId="{89F15C5C-D6D2-4B00-8A04-388D2674B328}" dt="2026-07-15T12:50:25.703" v="543" actId="20577"/>
          <ac:spMkLst>
            <pc:docMk/>
            <pc:sldMk cId="2251876675" sldId="278"/>
            <ac:spMk id="3" creationId="{FBA878B6-7388-0680-9EEF-55D60AF838C9}"/>
          </ac:spMkLst>
        </pc:spChg>
      </pc:sldChg>
      <pc:sldChg chg="addSp delSp modSp new mod setBg setClrOvrMap delDesignElem chgLayout">
        <pc:chgData name="Uppalapati, Karthik" userId="10896c07-e94b-4063-8a62-840236d02a35" providerId="ADAL" clId="{89F15C5C-D6D2-4B00-8A04-388D2674B328}" dt="2026-07-15T12:44:16.319" v="220" actId="27636"/>
        <pc:sldMkLst>
          <pc:docMk/>
          <pc:sldMk cId="1314286037" sldId="279"/>
        </pc:sldMkLst>
        <pc:spChg chg="mod ord">
          <ac:chgData name="Uppalapati, Karthik" userId="10896c07-e94b-4063-8a62-840236d02a35" providerId="ADAL" clId="{89F15C5C-D6D2-4B00-8A04-388D2674B328}" dt="2026-07-15T12:39:43.880" v="47" actId="700"/>
          <ac:spMkLst>
            <pc:docMk/>
            <pc:sldMk cId="1314286037" sldId="279"/>
            <ac:spMk id="2" creationId="{CB6F2622-3EB8-7280-DBBB-A6626D655894}"/>
          </ac:spMkLst>
        </pc:spChg>
        <pc:spChg chg="del">
          <ac:chgData name="Uppalapati, Karthik" userId="10896c07-e94b-4063-8a62-840236d02a35" providerId="ADAL" clId="{89F15C5C-D6D2-4B00-8A04-388D2674B328}" dt="2026-07-15T12:39:15.712" v="46" actId="26606"/>
          <ac:spMkLst>
            <pc:docMk/>
            <pc:sldMk cId="1314286037" sldId="279"/>
            <ac:spMk id="3" creationId="{9543CDB5-310F-D353-4F6B-4F937A7C80C0}"/>
          </ac:spMkLst>
        </pc:spChg>
        <pc:spChg chg="add mod ord">
          <ac:chgData name="Uppalapati, Karthik" userId="10896c07-e94b-4063-8a62-840236d02a35" providerId="ADAL" clId="{89F15C5C-D6D2-4B00-8A04-388D2674B328}" dt="2026-07-15T12:44:16.319" v="220" actId="27636"/>
          <ac:spMkLst>
            <pc:docMk/>
            <pc:sldMk cId="1314286037" sldId="279"/>
            <ac:spMk id="4" creationId="{5415113C-474D-28F2-9A0A-E727040E6760}"/>
          </ac:spMkLst>
        </pc:spChg>
        <pc:spChg chg="add del">
          <ac:chgData name="Uppalapati, Karthik" userId="10896c07-e94b-4063-8a62-840236d02a35" providerId="ADAL" clId="{89F15C5C-D6D2-4B00-8A04-388D2674B328}" dt="2026-07-15T12:39:43.880" v="47" actId="700"/>
          <ac:spMkLst>
            <pc:docMk/>
            <pc:sldMk cId="1314286037" sldId="279"/>
            <ac:spMk id="12" creationId="{DEF92653-5D6D-47E6-8744-0DAF76E049C4}"/>
          </ac:spMkLst>
        </pc:spChg>
        <pc:cxnChg chg="add del">
          <ac:chgData name="Uppalapati, Karthik" userId="10896c07-e94b-4063-8a62-840236d02a35" providerId="ADAL" clId="{89F15C5C-D6D2-4B00-8A04-388D2674B328}" dt="2026-07-15T12:39:43.880" v="47" actId="700"/>
          <ac:cxnSpMkLst>
            <pc:docMk/>
            <pc:sldMk cId="1314286037" sldId="279"/>
            <ac:cxnSpMk id="8" creationId="{F64F9B95-9045-48D2-B9F3-2927E98F54AA}"/>
          </ac:cxnSpMkLst>
        </pc:cxnChg>
        <pc:cxnChg chg="add del">
          <ac:chgData name="Uppalapati, Karthik" userId="10896c07-e94b-4063-8a62-840236d02a35" providerId="ADAL" clId="{89F15C5C-D6D2-4B00-8A04-388D2674B328}" dt="2026-07-15T12:39:43.880" v="47" actId="700"/>
          <ac:cxnSpMkLst>
            <pc:docMk/>
            <pc:sldMk cId="1314286037" sldId="279"/>
            <ac:cxnSpMk id="10" creationId="{085AA86F-6A4D-4BCB-A045-D992CDC2959B}"/>
          </ac:cxnSpMkLst>
        </pc:cxnChg>
        <pc:cxnChg chg="add del">
          <ac:chgData name="Uppalapati, Karthik" userId="10896c07-e94b-4063-8a62-840236d02a35" providerId="ADAL" clId="{89F15C5C-D6D2-4B00-8A04-388D2674B328}" dt="2026-07-15T12:39:43.880" v="47" actId="700"/>
          <ac:cxnSpMkLst>
            <pc:docMk/>
            <pc:sldMk cId="1314286037" sldId="279"/>
            <ac:cxnSpMk id="14" creationId="{9CA98CE3-81A7-4FFE-A047-9AA65998D877}"/>
          </ac:cxnSpMkLst>
        </pc:cxnChg>
        <pc:cxnChg chg="add del">
          <ac:chgData name="Uppalapati, Karthik" userId="10896c07-e94b-4063-8a62-840236d02a35" providerId="ADAL" clId="{89F15C5C-D6D2-4B00-8A04-388D2674B328}" dt="2026-07-15T12:39:43.880" v="47" actId="700"/>
          <ac:cxnSpMkLst>
            <pc:docMk/>
            <pc:sldMk cId="1314286037" sldId="279"/>
            <ac:cxnSpMk id="16" creationId="{18D91C2B-BDB9-49BE-9C44-E0CFE597ABFE}"/>
          </ac:cxnSpMkLst>
        </pc:cxnChg>
      </pc:sldChg>
      <pc:sldChg chg="addSp delSp modSp new mod setBg modClrScheme chgLayout">
        <pc:chgData name="Uppalapati, Karthik" userId="10896c07-e94b-4063-8a62-840236d02a35" providerId="ADAL" clId="{89F15C5C-D6D2-4B00-8A04-388D2674B328}" dt="2026-07-15T12:50:58.203" v="558" actId="26606"/>
        <pc:sldMkLst>
          <pc:docMk/>
          <pc:sldMk cId="696900991" sldId="280"/>
        </pc:sldMkLst>
        <pc:spChg chg="del">
          <ac:chgData name="Uppalapati, Karthik" userId="10896c07-e94b-4063-8a62-840236d02a35" providerId="ADAL" clId="{89F15C5C-D6D2-4B00-8A04-388D2674B328}" dt="2026-07-15T12:50:39.410" v="546" actId="700"/>
          <ac:spMkLst>
            <pc:docMk/>
            <pc:sldMk cId="696900991" sldId="280"/>
            <ac:spMk id="2" creationId="{F814B35A-05E8-561F-2D07-F349EBB54BFD}"/>
          </ac:spMkLst>
        </pc:spChg>
        <pc:spChg chg="del">
          <ac:chgData name="Uppalapati, Karthik" userId="10896c07-e94b-4063-8a62-840236d02a35" providerId="ADAL" clId="{89F15C5C-D6D2-4B00-8A04-388D2674B328}" dt="2026-07-15T12:50:36.241" v="545" actId="478"/>
          <ac:spMkLst>
            <pc:docMk/>
            <pc:sldMk cId="696900991" sldId="280"/>
            <ac:spMk id="3" creationId="{8E4961B9-882A-4E93-E868-3D70C4E09B5F}"/>
          </ac:spMkLst>
        </pc:spChg>
        <pc:spChg chg="add mod">
          <ac:chgData name="Uppalapati, Karthik" userId="10896c07-e94b-4063-8a62-840236d02a35" providerId="ADAL" clId="{89F15C5C-D6D2-4B00-8A04-388D2674B328}" dt="2026-07-15T12:50:58.203" v="558" actId="26606"/>
          <ac:spMkLst>
            <pc:docMk/>
            <pc:sldMk cId="696900991" sldId="280"/>
            <ac:spMk id="4" creationId="{9A1A9604-54D9-75C8-E0A4-798893BB11E8}"/>
          </ac:spMkLst>
        </pc:spChg>
        <pc:spChg chg="add">
          <ac:chgData name="Uppalapati, Karthik" userId="10896c07-e94b-4063-8a62-840236d02a35" providerId="ADAL" clId="{89F15C5C-D6D2-4B00-8A04-388D2674B328}" dt="2026-07-15T12:50:58.203" v="558" actId="26606"/>
          <ac:spMkLst>
            <pc:docMk/>
            <pc:sldMk cId="696900991" sldId="280"/>
            <ac:spMk id="13" creationId="{DEF92653-5D6D-47E6-8744-0DAF76E049C4}"/>
          </ac:spMkLst>
        </pc:spChg>
        <pc:cxnChg chg="add">
          <ac:chgData name="Uppalapati, Karthik" userId="10896c07-e94b-4063-8a62-840236d02a35" providerId="ADAL" clId="{89F15C5C-D6D2-4B00-8A04-388D2674B328}" dt="2026-07-15T12:50:58.203" v="558" actId="26606"/>
          <ac:cxnSpMkLst>
            <pc:docMk/>
            <pc:sldMk cId="696900991" sldId="280"/>
            <ac:cxnSpMk id="9" creationId="{F64F9B95-9045-48D2-B9F3-2927E98F54AA}"/>
          </ac:cxnSpMkLst>
        </pc:cxnChg>
        <pc:cxnChg chg="add">
          <ac:chgData name="Uppalapati, Karthik" userId="10896c07-e94b-4063-8a62-840236d02a35" providerId="ADAL" clId="{89F15C5C-D6D2-4B00-8A04-388D2674B328}" dt="2026-07-15T12:50:58.203" v="558" actId="26606"/>
          <ac:cxnSpMkLst>
            <pc:docMk/>
            <pc:sldMk cId="696900991" sldId="280"/>
            <ac:cxnSpMk id="11" creationId="{085AA86F-6A4D-4BCB-A045-D992CDC2959B}"/>
          </ac:cxnSpMkLst>
        </pc:cxnChg>
        <pc:cxnChg chg="add">
          <ac:chgData name="Uppalapati, Karthik" userId="10896c07-e94b-4063-8a62-840236d02a35" providerId="ADAL" clId="{89F15C5C-D6D2-4B00-8A04-388D2674B328}" dt="2026-07-15T12:50:58.203" v="558" actId="26606"/>
          <ac:cxnSpMkLst>
            <pc:docMk/>
            <pc:sldMk cId="696900991" sldId="280"/>
            <ac:cxnSpMk id="15" creationId="{9CA98CE3-81A7-4FFE-A047-9AA65998D87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B613D-EB48-4A73-B22C-D47F9BE51D1E}"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13294E-188F-4C8A-B7B8-7B14207CDD6C}" type="slidenum">
              <a:rPr lang="en-US" smtClean="0"/>
              <a:t>‹#›</a:t>
            </a:fld>
            <a:endParaRPr lang="en-US" dirty="0"/>
          </a:p>
        </p:txBody>
      </p:sp>
    </p:spTree>
    <p:extLst>
      <p:ext uri="{BB962C8B-B14F-4D97-AF65-F5344CB8AC3E}">
        <p14:creationId xmlns:p14="http://schemas.microsoft.com/office/powerpoint/2010/main" val="2538713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3294E-188F-4C8A-B7B8-7B14207CDD6C}" type="slidenum">
              <a:rPr lang="en-US" smtClean="0"/>
              <a:t>2</a:t>
            </a:fld>
            <a:endParaRPr lang="en-US" dirty="0"/>
          </a:p>
        </p:txBody>
      </p:sp>
    </p:spTree>
    <p:extLst>
      <p:ext uri="{BB962C8B-B14F-4D97-AF65-F5344CB8AC3E}">
        <p14:creationId xmlns:p14="http://schemas.microsoft.com/office/powerpoint/2010/main" val="1182531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13294E-188F-4C8A-B7B8-7B14207CDD6C}" type="slidenum">
              <a:rPr lang="en-US" smtClean="0"/>
              <a:t>16</a:t>
            </a:fld>
            <a:endParaRPr lang="en-US" dirty="0"/>
          </a:p>
        </p:txBody>
      </p:sp>
    </p:spTree>
    <p:extLst>
      <p:ext uri="{BB962C8B-B14F-4D97-AF65-F5344CB8AC3E}">
        <p14:creationId xmlns:p14="http://schemas.microsoft.com/office/powerpoint/2010/main" val="297068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7/15/2026</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67700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7/15/2026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39722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7/15/2026</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2916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7/15/2026</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141533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7/15/2026</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598651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7/15/2026</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443581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7/15/2026</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006312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7/15/2026</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956997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7/15/2026</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275243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7/15/2026</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053581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7/15/2026</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39913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7/15/2026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17726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github.com/Vaibhavkrishna2001/Financial-Time-Series-Analytic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github.com/Vaibhavkrishna2001/Financial-Time-Series-Analytic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researchgate.net/publication/299459188_Time_Series_Analysis_Forecasting_and_Control_5th_Edition_by_George_E_P_Box_Gwilym_M_Jenkins_Gregory_C_Reinsel_and_Greta_M_Ljung_2015_Published_by_John_Wiley_and_Sons_Inc_Hoboken_New_Jersey_pp_712_ISBN" TargetMode="External"/><Relationship Id="rId2" Type="http://schemas.openxmlformats.org/officeDocument/2006/relationships/hyperlink" Target="https://arxiv.org/abs/2004.01502" TargetMode="External"/><Relationship Id="rId1" Type="http://schemas.openxmlformats.org/officeDocument/2006/relationships/slideLayout" Target="../slideLayouts/slideLayout2.xml"/><Relationship Id="rId5" Type="http://schemas.openxmlformats.org/officeDocument/2006/relationships/hyperlink" Target="https://github.com/ranaroussi/yfinance" TargetMode="External"/><Relationship Id="rId4" Type="http://schemas.openxmlformats.org/officeDocument/2006/relationships/hyperlink" Target="https://www.researchgate.net/publication/268823054_Predicting_stock_market_index_using_fusion_of_machine_learning_techniqu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BF033D-5363-E6AD-8481-25E28B7C78F4}"/>
              </a:ext>
            </a:extLst>
          </p:cNvPr>
          <p:cNvSpPr>
            <a:spLocks noGrp="1"/>
          </p:cNvSpPr>
          <p:nvPr>
            <p:ph type="ctrTitle"/>
          </p:nvPr>
        </p:nvSpPr>
        <p:spPr>
          <a:xfrm>
            <a:off x="703400" y="908651"/>
            <a:ext cx="3620882" cy="3640345"/>
          </a:xfrm>
        </p:spPr>
        <p:txBody>
          <a:bodyPr anchor="t">
            <a:normAutofit/>
          </a:bodyPr>
          <a:lstStyle/>
          <a:p>
            <a:r>
              <a:rPr lang="en-US" sz="4000" dirty="0"/>
              <a:t>Real Time Financial Performance Analytics Dashboard</a:t>
            </a:r>
          </a:p>
        </p:txBody>
      </p:sp>
      <p:sp>
        <p:nvSpPr>
          <p:cNvPr id="3" name="Subtitle 2">
            <a:extLst>
              <a:ext uri="{FF2B5EF4-FFF2-40B4-BE49-F238E27FC236}">
                <a16:creationId xmlns:a16="http://schemas.microsoft.com/office/drawing/2014/main" id="{9AE7597E-87AB-0F43-46F1-FECB3F44CEC4}"/>
              </a:ext>
            </a:extLst>
          </p:cNvPr>
          <p:cNvSpPr>
            <a:spLocks noGrp="1"/>
          </p:cNvSpPr>
          <p:nvPr>
            <p:ph type="subTitle" idx="1"/>
          </p:nvPr>
        </p:nvSpPr>
        <p:spPr>
          <a:xfrm>
            <a:off x="616903" y="4548996"/>
            <a:ext cx="3918027" cy="1739293"/>
          </a:xfrm>
        </p:spPr>
        <p:txBody>
          <a:bodyPr anchor="b">
            <a:normAutofit fontScale="77500" lnSpcReduction="20000"/>
          </a:bodyPr>
          <a:lstStyle/>
          <a:p>
            <a:r>
              <a:rPr lang="en-US" sz="1800" dirty="0"/>
              <a:t>Name: Vaibhav Krishna chavva</a:t>
            </a:r>
          </a:p>
          <a:p>
            <a:r>
              <a:rPr lang="en-US" sz="1800" dirty="0"/>
              <a:t>Student Id: 23095861</a:t>
            </a:r>
          </a:p>
          <a:p>
            <a:r>
              <a:rPr lang="en-US" sz="1800" dirty="0"/>
              <a:t>Course: MSc data science</a:t>
            </a:r>
          </a:p>
          <a:p>
            <a:r>
              <a:rPr lang="en-US" sz="1800" dirty="0"/>
              <a:t>Github: </a:t>
            </a:r>
            <a:r>
              <a:rPr lang="en-US" dirty="0">
                <a:hlinkClick r:id="rId2"/>
              </a:rPr>
              <a:t>https://github.com/Vaibhavkrishna2001/Financial-Time-Series-Analytics</a:t>
            </a:r>
            <a:r>
              <a:rPr lang="en-US" dirty="0"/>
              <a:t> </a:t>
            </a:r>
            <a:endParaRPr lang="en-US" sz="1800" dirty="0"/>
          </a:p>
        </p:txBody>
      </p:sp>
      <p:cxnSp>
        <p:nvCxnSpPr>
          <p:cNvPr id="13" name="Straight Connector 1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Financial graphs on a dark display">
            <a:extLst>
              <a:ext uri="{FF2B5EF4-FFF2-40B4-BE49-F238E27FC236}">
                <a16:creationId xmlns:a16="http://schemas.microsoft.com/office/drawing/2014/main" id="{21EB4409-143A-2D4D-05A3-90AF18BFF691}"/>
              </a:ext>
            </a:extLst>
          </p:cNvPr>
          <p:cNvPicPr>
            <a:picLocks noChangeAspect="1"/>
          </p:cNvPicPr>
          <p:nvPr/>
        </p:nvPicPr>
        <p:blipFill>
          <a:blip r:embed="rId3"/>
          <a:srcRect l="13759" r="19568"/>
          <a:stretch>
            <a:fillRect/>
          </a:stretch>
        </p:blipFill>
        <p:spPr>
          <a:xfrm>
            <a:off x="4876158" y="10"/>
            <a:ext cx="7315841" cy="6857990"/>
          </a:xfrm>
          <a:prstGeom prst="rect">
            <a:avLst/>
          </a:prstGeom>
        </p:spPr>
      </p:pic>
    </p:spTree>
    <p:extLst>
      <p:ext uri="{BB962C8B-B14F-4D97-AF65-F5344CB8AC3E}">
        <p14:creationId xmlns:p14="http://schemas.microsoft.com/office/powerpoint/2010/main" val="38378128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5" name="Rectangle 14">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838B3B-1CF0-D88B-E468-B72E39C02D74}"/>
              </a:ext>
            </a:extLst>
          </p:cNvPr>
          <p:cNvSpPr>
            <a:spLocks noGrp="1"/>
          </p:cNvSpPr>
          <p:nvPr>
            <p:ph type="title"/>
          </p:nvPr>
        </p:nvSpPr>
        <p:spPr>
          <a:xfrm>
            <a:off x="703400" y="908652"/>
            <a:ext cx="3620882" cy="951898"/>
          </a:xfrm>
        </p:spPr>
        <p:txBody>
          <a:bodyPr vert="horz" lIns="91440" tIns="45720" rIns="91440" bIns="45720" rtlCol="0" anchor="t">
            <a:normAutofit fontScale="90000"/>
          </a:bodyPr>
          <a:lstStyle/>
          <a:p>
            <a:r>
              <a:rPr lang="en-US" b="1" dirty="0"/>
              <a:t>Motivation</a:t>
            </a:r>
            <a:br>
              <a:rPr lang="en-US" dirty="0"/>
            </a:br>
            <a:endParaRPr lang="en-US" dirty="0"/>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One in a crowd">
            <a:extLst>
              <a:ext uri="{FF2B5EF4-FFF2-40B4-BE49-F238E27FC236}">
                <a16:creationId xmlns:a16="http://schemas.microsoft.com/office/drawing/2014/main" id="{FCDCB0BA-0382-6C2F-5387-34D7613747F6}"/>
              </a:ext>
            </a:extLst>
          </p:cNvPr>
          <p:cNvPicPr>
            <a:picLocks noChangeAspect="1"/>
          </p:cNvPicPr>
          <p:nvPr/>
        </p:nvPicPr>
        <p:blipFill>
          <a:blip r:embed="rId3"/>
          <a:srcRect l="14092" r="5901"/>
          <a:stretch>
            <a:fillRect/>
          </a:stretch>
        </p:blipFill>
        <p:spPr>
          <a:xfrm>
            <a:off x="4876158" y="10"/>
            <a:ext cx="7315841" cy="6857990"/>
          </a:xfrm>
          <a:prstGeom prst="rect">
            <a:avLst/>
          </a:prstGeom>
        </p:spPr>
      </p:pic>
      <p:sp>
        <p:nvSpPr>
          <p:cNvPr id="6" name="TextBox 5">
            <a:extLst>
              <a:ext uri="{FF2B5EF4-FFF2-40B4-BE49-F238E27FC236}">
                <a16:creationId xmlns:a16="http://schemas.microsoft.com/office/drawing/2014/main" id="{EFA24E3C-3535-7A3B-6AF7-63DC762BC1B0}"/>
              </a:ext>
            </a:extLst>
          </p:cNvPr>
          <p:cNvSpPr txBox="1"/>
          <p:nvPr/>
        </p:nvSpPr>
        <p:spPr>
          <a:xfrm>
            <a:off x="800100" y="1695450"/>
            <a:ext cx="3473450" cy="3693319"/>
          </a:xfrm>
          <a:prstGeom prst="rect">
            <a:avLst/>
          </a:prstGeom>
          <a:noFill/>
        </p:spPr>
        <p:txBody>
          <a:bodyPr wrap="square" rtlCol="0">
            <a:spAutoFit/>
          </a:bodyPr>
          <a:lstStyle/>
          <a:p>
            <a:r>
              <a:rPr lang="en-US" dirty="0"/>
              <a:t>Accurately forecasting stock prices supports better-informed investment and risk decisions. Banking stocks are especially interesting to model because they combine steady long-term trends with sharp, event-driven volatility (rate changes, earnings, macro shocks)  making them a strong test bed for comparing statistical and machine-learning forecasting approaches.</a:t>
            </a:r>
          </a:p>
          <a:p>
            <a:endParaRPr lang="en-US" dirty="0"/>
          </a:p>
        </p:txBody>
      </p:sp>
    </p:spTree>
    <p:extLst>
      <p:ext uri="{BB962C8B-B14F-4D97-AF65-F5344CB8AC3E}">
        <p14:creationId xmlns:p14="http://schemas.microsoft.com/office/powerpoint/2010/main" val="175934003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2622-3EB8-7280-DBBB-A6626D655894}"/>
              </a:ext>
            </a:extLst>
          </p:cNvPr>
          <p:cNvSpPr>
            <a:spLocks noGrp="1"/>
          </p:cNvSpPr>
          <p:nvPr>
            <p:ph type="title"/>
          </p:nvPr>
        </p:nvSpPr>
        <p:spPr/>
        <p:txBody>
          <a:bodyPr vert="horz" lIns="91440" tIns="45720" rIns="91440" bIns="45720" rtlCol="0" anchor="t">
            <a:normAutofit/>
          </a:bodyPr>
          <a:lstStyle/>
          <a:p>
            <a:r>
              <a:rPr lang="en-US" sz="6600" dirty="0"/>
              <a:t>Introduction</a:t>
            </a:r>
          </a:p>
        </p:txBody>
      </p:sp>
      <p:sp>
        <p:nvSpPr>
          <p:cNvPr id="4" name="Content Placeholder 3">
            <a:extLst>
              <a:ext uri="{FF2B5EF4-FFF2-40B4-BE49-F238E27FC236}">
                <a16:creationId xmlns:a16="http://schemas.microsoft.com/office/drawing/2014/main" id="{5415113C-474D-28F2-9A0A-E727040E6760}"/>
              </a:ext>
            </a:extLst>
          </p:cNvPr>
          <p:cNvSpPr>
            <a:spLocks noGrp="1"/>
          </p:cNvSpPr>
          <p:nvPr>
            <p:ph idx="1"/>
          </p:nvPr>
        </p:nvSpPr>
        <p:spPr/>
        <p:txBody>
          <a:bodyPr>
            <a:normAutofit fontScale="85000" lnSpcReduction="10000"/>
          </a:bodyPr>
          <a:lstStyle/>
          <a:p>
            <a:r>
              <a:rPr lang="en-US" dirty="0"/>
              <a:t>Stock price forecasting has long been a central challenge in quantitative finance accurate predictions inform investment strategy, risk management, and portfolio allocation decisions worth billions of dollars. Over the decades, forecasting approaches have evolved through three broad paradigms:</a:t>
            </a:r>
          </a:p>
          <a:p>
            <a:pPr lvl="1"/>
            <a:r>
              <a:rPr lang="en-US" b="1" dirty="0"/>
              <a:t>Classical statistical models</a:t>
            </a:r>
            <a:r>
              <a:rPr lang="en-US" dirty="0"/>
              <a:t>: These model price series directly through autocorrelation, trend, and stationarity, offering interpretability and low computational cost.</a:t>
            </a:r>
          </a:p>
          <a:p>
            <a:pPr lvl="1"/>
            <a:r>
              <a:rPr lang="en-US" b="1" dirty="0"/>
              <a:t>Machine learning models: </a:t>
            </a:r>
            <a:r>
              <a:rPr lang="en-US" dirty="0"/>
              <a:t>capture non-linear relationships between engineered features (lagged prices, moving averages, volume) without assuming a fixed functional form.</a:t>
            </a:r>
          </a:p>
          <a:p>
            <a:pPr lvl="1"/>
            <a:r>
              <a:rPr lang="en-US" b="1" dirty="0"/>
              <a:t>Deep learning models: </a:t>
            </a:r>
            <a:r>
              <a:rPr lang="en-US" dirty="0"/>
              <a:t>learn temporal patterns directly from raw sequences, well-suited to the sequential, path-dependent nature of financial time series.</a:t>
            </a:r>
          </a:p>
          <a:p>
            <a:r>
              <a:rPr lang="en-US" dirty="0"/>
              <a:t>Despite extensive individual study of each approach, direct, consistent comparisons across all three paradigms on the same data, with the same evaluation methodology comparatively.</a:t>
            </a:r>
          </a:p>
          <a:p>
            <a:r>
              <a:rPr lang="en-US" dirty="0"/>
              <a:t>This project focuses on the banking sector, forecasting daily closing stock prices for three major banks Lloyds, Barclays, and Goldman Sachs chosen to span a range of market scales and price volatility profiles. </a:t>
            </a:r>
          </a:p>
        </p:txBody>
      </p:sp>
    </p:spTree>
    <p:extLst>
      <p:ext uri="{BB962C8B-B14F-4D97-AF65-F5344CB8AC3E}">
        <p14:creationId xmlns:p14="http://schemas.microsoft.com/office/powerpoint/2010/main" val="131428603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5" name="Rectangle 14">
            <a:extLst>
              <a:ext uri="{FF2B5EF4-FFF2-40B4-BE49-F238E27FC236}">
                <a16:creationId xmlns:a16="http://schemas.microsoft.com/office/drawing/2014/main" id="{A5D67320-FCFD-4931-AAF7-C6C853329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528A45-95A0-D6F3-AE92-ECBA97FD12F4}"/>
              </a:ext>
            </a:extLst>
          </p:cNvPr>
          <p:cNvSpPr>
            <a:spLocks noGrp="1"/>
          </p:cNvSpPr>
          <p:nvPr>
            <p:ph type="title"/>
          </p:nvPr>
        </p:nvSpPr>
        <p:spPr>
          <a:xfrm>
            <a:off x="703400" y="908651"/>
            <a:ext cx="3620882" cy="1269399"/>
          </a:xfrm>
        </p:spPr>
        <p:txBody>
          <a:bodyPr vert="horz" lIns="91440" tIns="45720" rIns="91440" bIns="45720" rtlCol="0" anchor="t">
            <a:normAutofit fontScale="90000"/>
          </a:bodyPr>
          <a:lstStyle/>
          <a:p>
            <a:r>
              <a:rPr lang="en-US" b="1" dirty="0"/>
              <a:t>Research Question</a:t>
            </a:r>
            <a:endParaRPr lang="en-US" dirty="0"/>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Magnifying glass and question mark">
            <a:extLst>
              <a:ext uri="{FF2B5EF4-FFF2-40B4-BE49-F238E27FC236}">
                <a16:creationId xmlns:a16="http://schemas.microsoft.com/office/drawing/2014/main" id="{C3183CED-B78C-16BD-34CF-B56E46DF63C0}"/>
              </a:ext>
            </a:extLst>
          </p:cNvPr>
          <p:cNvPicPr>
            <a:picLocks noChangeAspect="1"/>
          </p:cNvPicPr>
          <p:nvPr/>
        </p:nvPicPr>
        <p:blipFill>
          <a:blip r:embed="rId2"/>
          <a:srcRect l="24438" r="15556"/>
          <a:stretch>
            <a:fillRect/>
          </a:stretch>
        </p:blipFill>
        <p:spPr>
          <a:xfrm>
            <a:off x="4876158" y="10"/>
            <a:ext cx="7315841" cy="6857990"/>
          </a:xfrm>
          <a:prstGeom prst="rect">
            <a:avLst/>
          </a:prstGeom>
        </p:spPr>
      </p:pic>
      <p:sp>
        <p:nvSpPr>
          <p:cNvPr id="4" name="TextBox 3">
            <a:extLst>
              <a:ext uri="{FF2B5EF4-FFF2-40B4-BE49-F238E27FC236}">
                <a16:creationId xmlns:a16="http://schemas.microsoft.com/office/drawing/2014/main" id="{C2EB1284-E342-61C9-0E8A-454B501546ED}"/>
              </a:ext>
            </a:extLst>
          </p:cNvPr>
          <p:cNvSpPr txBox="1"/>
          <p:nvPr/>
        </p:nvSpPr>
        <p:spPr>
          <a:xfrm>
            <a:off x="703400" y="2178050"/>
            <a:ext cx="3309800" cy="2585323"/>
          </a:xfrm>
          <a:prstGeom prst="rect">
            <a:avLst/>
          </a:prstGeom>
          <a:noFill/>
        </p:spPr>
        <p:txBody>
          <a:bodyPr wrap="square" rtlCol="0">
            <a:spAutoFit/>
          </a:bodyPr>
          <a:lstStyle/>
          <a:p>
            <a:r>
              <a:rPr lang="en-US" dirty="0"/>
              <a:t>How accurately can the future daily closing prices of major bank stocks (Lloyds, Barclays, and Goldman Sachs) be forecast from their historical price and volume data, and which forecasting approach is best suited to this problem?</a:t>
            </a:r>
          </a:p>
          <a:p>
            <a:endParaRPr lang="en-US" dirty="0"/>
          </a:p>
        </p:txBody>
      </p:sp>
    </p:spTree>
    <p:extLst>
      <p:ext uri="{BB962C8B-B14F-4D97-AF65-F5344CB8AC3E}">
        <p14:creationId xmlns:p14="http://schemas.microsoft.com/office/powerpoint/2010/main" val="372141194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034CC7-4151-C106-AE71-4816C2C807FF}"/>
              </a:ext>
            </a:extLst>
          </p:cNvPr>
          <p:cNvSpPr>
            <a:spLocks noGrp="1"/>
          </p:cNvSpPr>
          <p:nvPr>
            <p:ph type="title"/>
          </p:nvPr>
        </p:nvSpPr>
        <p:spPr>
          <a:xfrm>
            <a:off x="6284749" y="909638"/>
            <a:ext cx="5201121" cy="1318062"/>
          </a:xfrm>
        </p:spPr>
        <p:txBody>
          <a:bodyPr>
            <a:normAutofit/>
          </a:bodyPr>
          <a:lstStyle/>
          <a:p>
            <a:r>
              <a:rPr lang="en-US" dirty="0">
                <a:solidFill>
                  <a:schemeClr val="bg2"/>
                </a:solidFill>
              </a:rPr>
              <a:t>Overview of Related Work</a:t>
            </a:r>
          </a:p>
        </p:txBody>
      </p:sp>
      <p:pic>
        <p:nvPicPr>
          <p:cNvPr id="5" name="Picture 4" descr="Desk with productivity items">
            <a:extLst>
              <a:ext uri="{FF2B5EF4-FFF2-40B4-BE49-F238E27FC236}">
                <a16:creationId xmlns:a16="http://schemas.microsoft.com/office/drawing/2014/main" id="{79643036-FD35-2CCB-3269-9D377AA75F9F}"/>
              </a:ext>
            </a:extLst>
          </p:cNvPr>
          <p:cNvPicPr>
            <a:picLocks noChangeAspect="1"/>
          </p:cNvPicPr>
          <p:nvPr/>
        </p:nvPicPr>
        <p:blipFill>
          <a:blip r:embed="rId2"/>
          <a:srcRect l="29949" r="14700" b="-1"/>
          <a:stretch>
            <a:fillRect/>
          </a:stretch>
        </p:blipFill>
        <p:spPr>
          <a:xfrm>
            <a:off x="20" y="10"/>
            <a:ext cx="5686740" cy="6857990"/>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A61EE5-1B19-E97E-C539-740C6E80AE7A}"/>
              </a:ext>
            </a:extLst>
          </p:cNvPr>
          <p:cNvSpPr>
            <a:spLocks noGrp="1"/>
          </p:cNvSpPr>
          <p:nvPr>
            <p:ph idx="1"/>
          </p:nvPr>
        </p:nvSpPr>
        <p:spPr>
          <a:xfrm>
            <a:off x="6290838" y="2236843"/>
            <a:ext cx="5201121" cy="3931920"/>
          </a:xfrm>
        </p:spPr>
        <p:txBody>
          <a:bodyPr>
            <a:normAutofit fontScale="92500" lnSpcReduction="20000"/>
          </a:bodyPr>
          <a:lstStyle/>
          <a:p>
            <a:pPr marL="342900" indent="-342900">
              <a:buFont typeface="+mj-lt"/>
              <a:buAutoNum type="arabicPeriod"/>
            </a:pPr>
            <a:r>
              <a:rPr lang="en-US" sz="1600" dirty="0">
                <a:solidFill>
                  <a:schemeClr val="bg2"/>
                </a:solidFill>
              </a:rPr>
              <a:t>Min, J. (2020)</a:t>
            </a:r>
          </a:p>
          <a:p>
            <a:pPr marL="457200" lvl="1" indent="0">
              <a:buNone/>
            </a:pPr>
            <a:r>
              <a:rPr lang="en-US" sz="1000" dirty="0">
                <a:solidFill>
                  <a:schemeClr val="bg2"/>
                </a:solidFill>
              </a:rPr>
              <a:t>Proposed an LSTM-based financial market trend forecasting method that combines fundamental, technical, and qualitative (sentiment) data in preprocessing, then benchmarked it against existing trend-forecasting models  found LSTM's comprehensive multi-source input approach outperformed traditional single-source forecasting techniques.</a:t>
            </a:r>
          </a:p>
          <a:p>
            <a:pPr marL="342900" indent="-342900">
              <a:buFont typeface="+mj-lt"/>
              <a:buAutoNum type="arabicPeriod"/>
            </a:pPr>
            <a:r>
              <a:rPr lang="de-DE" sz="1600" dirty="0">
                <a:solidFill>
                  <a:schemeClr val="bg2"/>
                </a:solidFill>
              </a:rPr>
              <a:t>Box, Jenkins, Reinsel &amp; Ljung (2015) </a:t>
            </a:r>
          </a:p>
          <a:p>
            <a:pPr marL="457200" lvl="1" indent="0">
              <a:buNone/>
            </a:pPr>
            <a:r>
              <a:rPr lang="en-US" sz="1200" dirty="0">
                <a:solidFill>
                  <a:schemeClr val="bg2"/>
                </a:solidFill>
              </a:rPr>
              <a:t>The foundational text defining the Box-Jenkins methodology for ARIMA modeling: systematic model identification via ACF/PACF analysis, differencing to achieve stationarity, parameter estimation, and residual diagnostic checking. This is the methodology your own ARIMA notebook directly follows (ADF test → differencing → ACF/PACF → grid search → residual diagnostics), making it the theoretical basis for your ARIMA implementation rather than a comparative benchmark like the other three entries.</a:t>
            </a:r>
          </a:p>
          <a:p>
            <a:pPr marL="457200" lvl="1" indent="0">
              <a:buNone/>
            </a:pPr>
            <a:r>
              <a:rPr lang="en-US" sz="1600" dirty="0">
                <a:solidFill>
                  <a:schemeClr val="bg2"/>
                </a:solidFill>
              </a:rPr>
              <a:t>3. Patel, Shah, Thakkar &amp; Kotecha (2015)</a:t>
            </a:r>
          </a:p>
          <a:p>
            <a:pPr marL="457200" lvl="1" indent="0">
              <a:buNone/>
            </a:pPr>
            <a:r>
              <a:rPr lang="en-US" sz="1200" dirty="0">
                <a:solidFill>
                  <a:schemeClr val="bg2"/>
                </a:solidFill>
              </a:rPr>
              <a:t>Proposed a two-stage fusion approach: Support Vector Regression first predicts near-term statistical parameters, which then feed into a second-stage model (ANN, Random Forest, or SVR), tested on the CNX Nifty and BSE Sensex indices. Found that all three fusion combinations (SVR-ANN, SVR-RF, SVR-SVR) reduced prediction error compared to single-stage models across 1-30 day forecast horizons.</a:t>
            </a:r>
          </a:p>
        </p:txBody>
      </p:sp>
    </p:spTree>
    <p:extLst>
      <p:ext uri="{BB962C8B-B14F-4D97-AF65-F5344CB8AC3E}">
        <p14:creationId xmlns:p14="http://schemas.microsoft.com/office/powerpoint/2010/main" val="119744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2588BD-0693-2881-8FAF-ECA0C005A817}"/>
              </a:ext>
            </a:extLst>
          </p:cNvPr>
          <p:cNvSpPr>
            <a:spLocks noGrp="1"/>
          </p:cNvSpPr>
          <p:nvPr>
            <p:ph type="title"/>
          </p:nvPr>
        </p:nvSpPr>
        <p:spPr/>
        <p:txBody>
          <a:bodyPr/>
          <a:lstStyle/>
          <a:p>
            <a:r>
              <a:rPr lang="en-US" dirty="0"/>
              <a:t>Difference we are doing in our project</a:t>
            </a:r>
          </a:p>
        </p:txBody>
      </p:sp>
      <p:sp>
        <p:nvSpPr>
          <p:cNvPr id="5" name="Text Placeholder 4">
            <a:extLst>
              <a:ext uri="{FF2B5EF4-FFF2-40B4-BE49-F238E27FC236}">
                <a16:creationId xmlns:a16="http://schemas.microsoft.com/office/drawing/2014/main" id="{D589009F-775C-8659-E86D-A5343CDF1245}"/>
              </a:ext>
            </a:extLst>
          </p:cNvPr>
          <p:cNvSpPr>
            <a:spLocks noGrp="1"/>
          </p:cNvSpPr>
          <p:nvPr>
            <p:ph type="body" idx="1"/>
          </p:nvPr>
        </p:nvSpPr>
        <p:spPr/>
        <p:txBody>
          <a:bodyPr/>
          <a:lstStyle/>
          <a:p>
            <a:r>
              <a:rPr lang="en-US" dirty="0"/>
              <a:t>Prior Work</a:t>
            </a:r>
          </a:p>
        </p:txBody>
      </p:sp>
      <p:sp>
        <p:nvSpPr>
          <p:cNvPr id="6" name="Content Placeholder 5">
            <a:extLst>
              <a:ext uri="{FF2B5EF4-FFF2-40B4-BE49-F238E27FC236}">
                <a16:creationId xmlns:a16="http://schemas.microsoft.com/office/drawing/2014/main" id="{56856A48-C24B-E653-258A-8608144A8E14}"/>
              </a:ext>
            </a:extLst>
          </p:cNvPr>
          <p:cNvSpPr>
            <a:spLocks noGrp="1"/>
          </p:cNvSpPr>
          <p:nvPr>
            <p:ph sz="half" idx="2"/>
          </p:nvPr>
        </p:nvSpPr>
        <p:spPr/>
        <p:txBody>
          <a:bodyPr/>
          <a:lstStyle/>
          <a:p>
            <a:r>
              <a:rPr lang="en-US" dirty="0"/>
              <a:t>Usually 1 stock or index </a:t>
            </a:r>
          </a:p>
          <a:p>
            <a:r>
              <a:rPr lang="en-US" dirty="0"/>
              <a:t>Pairwise comparisons (ARIMA vs RF, or ARIMA vs LSTM) rarely all 3 together</a:t>
            </a:r>
          </a:p>
          <a:p>
            <a:r>
              <a:rPr lang="en-US" dirty="0"/>
              <a:t>Fusion approaches CHAIN models in stages</a:t>
            </a:r>
          </a:p>
          <a:p>
            <a:r>
              <a:rPr lang="en-US" dirty="0"/>
              <a:t>Little to no reported hyperparameter tuning</a:t>
            </a:r>
          </a:p>
          <a:p>
            <a:endParaRPr lang="en-US" dirty="0"/>
          </a:p>
        </p:txBody>
      </p:sp>
      <p:sp>
        <p:nvSpPr>
          <p:cNvPr id="7" name="Text Placeholder 6">
            <a:extLst>
              <a:ext uri="{FF2B5EF4-FFF2-40B4-BE49-F238E27FC236}">
                <a16:creationId xmlns:a16="http://schemas.microsoft.com/office/drawing/2014/main" id="{B8545952-8DEF-B7CF-2C58-50BF24A26258}"/>
              </a:ext>
            </a:extLst>
          </p:cNvPr>
          <p:cNvSpPr>
            <a:spLocks noGrp="1"/>
          </p:cNvSpPr>
          <p:nvPr>
            <p:ph type="body" sz="quarter" idx="3"/>
          </p:nvPr>
        </p:nvSpPr>
        <p:spPr/>
        <p:txBody>
          <a:bodyPr/>
          <a:lstStyle/>
          <a:p>
            <a:r>
              <a:rPr lang="en-US" dirty="0"/>
              <a:t>This Project</a:t>
            </a:r>
          </a:p>
        </p:txBody>
      </p:sp>
      <p:sp>
        <p:nvSpPr>
          <p:cNvPr id="8" name="Content Placeholder 7">
            <a:extLst>
              <a:ext uri="{FF2B5EF4-FFF2-40B4-BE49-F238E27FC236}">
                <a16:creationId xmlns:a16="http://schemas.microsoft.com/office/drawing/2014/main" id="{D01429CD-6906-6460-D201-F1E5E30361E0}"/>
              </a:ext>
            </a:extLst>
          </p:cNvPr>
          <p:cNvSpPr>
            <a:spLocks noGrp="1"/>
          </p:cNvSpPr>
          <p:nvPr>
            <p:ph sz="quarter" idx="4"/>
          </p:nvPr>
        </p:nvSpPr>
        <p:spPr/>
        <p:txBody>
          <a:bodyPr/>
          <a:lstStyle/>
          <a:p>
            <a:r>
              <a:rPr lang="en-US" dirty="0"/>
              <a:t>3 banks (Lloyds, Barclays, Goldman Sachs), same pipeline for each</a:t>
            </a:r>
          </a:p>
          <a:p>
            <a:r>
              <a:rPr lang="en-US" dirty="0"/>
              <a:t>ARIMA, Random Forest, and LSTM run INDEPENDENTLY and compared head-to-head</a:t>
            </a:r>
          </a:p>
          <a:p>
            <a:r>
              <a:rPr lang="en-US" dirty="0"/>
              <a:t>All 3 models tuned (grid search / RandomizedSearchCV / manual search)</a:t>
            </a:r>
          </a:p>
          <a:p>
            <a:r>
              <a:rPr lang="en-US" dirty="0"/>
              <a:t>MAE, RMSE, MAPE, and R² reported consistently across every model</a:t>
            </a:r>
          </a:p>
          <a:p>
            <a:endParaRPr lang="en-US" dirty="0"/>
          </a:p>
        </p:txBody>
      </p:sp>
    </p:spTree>
    <p:extLst>
      <p:ext uri="{BB962C8B-B14F-4D97-AF65-F5344CB8AC3E}">
        <p14:creationId xmlns:p14="http://schemas.microsoft.com/office/powerpoint/2010/main" val="2460375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F5898D-DC01-F6A6-536B-DBE180D4E3CB}"/>
              </a:ext>
            </a:extLst>
          </p:cNvPr>
          <p:cNvSpPr>
            <a:spLocks noGrp="1"/>
          </p:cNvSpPr>
          <p:nvPr>
            <p:ph type="title"/>
          </p:nvPr>
        </p:nvSpPr>
        <p:spPr>
          <a:xfrm>
            <a:off x="704088" y="914400"/>
            <a:ext cx="5195889" cy="1316736"/>
          </a:xfrm>
        </p:spPr>
        <p:txBody>
          <a:bodyPr vert="horz" lIns="91440" tIns="45720" rIns="91440" bIns="45720" rtlCol="0">
            <a:normAutofit/>
          </a:bodyPr>
          <a:lstStyle/>
          <a:p>
            <a:r>
              <a:rPr lang="en-US" dirty="0"/>
              <a:t>Dataset</a:t>
            </a:r>
          </a:p>
        </p:txBody>
      </p:sp>
      <p:cxnSp>
        <p:nvCxnSpPr>
          <p:cNvPr id="33" name="Straight Connector 32">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12FAA31-9717-9DE4-D5BB-98868C2059A3}"/>
              </a:ext>
            </a:extLst>
          </p:cNvPr>
          <p:cNvSpPr>
            <a:spLocks noGrp="1"/>
          </p:cNvSpPr>
          <p:nvPr>
            <p:ph idx="1"/>
          </p:nvPr>
        </p:nvSpPr>
        <p:spPr>
          <a:xfrm>
            <a:off x="704088" y="2231136"/>
            <a:ext cx="5195889" cy="3931920"/>
          </a:xfrm>
        </p:spPr>
        <p:txBody>
          <a:bodyPr>
            <a:normAutofit fontScale="92500" lnSpcReduction="20000"/>
          </a:bodyPr>
          <a:lstStyle/>
          <a:p>
            <a:r>
              <a:rPr lang="en-US" b="1" dirty="0"/>
              <a:t>Source</a:t>
            </a:r>
            <a:r>
              <a:rPr lang="en-US" dirty="0"/>
              <a:t>: Yahoo Finance, retrieved via the yfinance Python API</a:t>
            </a:r>
          </a:p>
          <a:p>
            <a:r>
              <a:rPr lang="en-US" b="1" dirty="0"/>
              <a:t>Coverage</a:t>
            </a:r>
            <a:r>
              <a:rPr lang="en-US" dirty="0"/>
              <a:t>: 3 banks — Lloyds (LLOY.L), Barclays (BARC.L), Goldman Sachs (GS)  daily data, 2 Jan 2015 to 29 May 2026</a:t>
            </a:r>
          </a:p>
          <a:p>
            <a:r>
              <a:rPr lang="en-US" b="1" dirty="0"/>
              <a:t>Format: </a:t>
            </a:r>
            <a:r>
              <a:rPr lang="en-US" dirty="0"/>
              <a:t>CSV columns: Date, Bank, Open, High, Low, Close, Volume</a:t>
            </a:r>
            <a:endParaRPr lang="en-US" b="1" dirty="0"/>
          </a:p>
          <a:p>
            <a:r>
              <a:rPr lang="en-US" b="1" dirty="0"/>
              <a:t>Size: </a:t>
            </a:r>
            <a:r>
              <a:rPr lang="en-US" dirty="0"/>
              <a:t>2,868 trading days per bank × 3 banks = 8,600 rows total</a:t>
            </a:r>
            <a:endParaRPr lang="en-US" b="1" dirty="0"/>
          </a:p>
          <a:p>
            <a:r>
              <a:rPr lang="en-US" b="1" dirty="0"/>
              <a:t>Access: </a:t>
            </a:r>
            <a:r>
              <a:rPr lang="en-US" u="sng" dirty="0">
                <a:hlinkClick r:id="rId2"/>
              </a:rPr>
              <a:t>https://github.com/Vaibhavkrishna2001/Financial-Time-Series-Analytics</a:t>
            </a:r>
            <a:r>
              <a:rPr lang="en-US" dirty="0"/>
              <a:t>  </a:t>
            </a:r>
            <a:endParaRPr lang="en-US" b="1" dirty="0"/>
          </a:p>
          <a:p>
            <a:endParaRPr lang="en-US" dirty="0"/>
          </a:p>
        </p:txBody>
      </p:sp>
      <p:pic>
        <p:nvPicPr>
          <p:cNvPr id="26" name="Picture 25" descr="Stock exchange numbers">
            <a:extLst>
              <a:ext uri="{FF2B5EF4-FFF2-40B4-BE49-F238E27FC236}">
                <a16:creationId xmlns:a16="http://schemas.microsoft.com/office/drawing/2014/main" id="{D5D90299-01C2-DD26-80B8-43009936F809}"/>
              </a:ext>
            </a:extLst>
          </p:cNvPr>
          <p:cNvPicPr>
            <a:picLocks noChangeAspect="1"/>
          </p:cNvPicPr>
          <p:nvPr/>
        </p:nvPicPr>
        <p:blipFill>
          <a:blip r:embed="rId3"/>
          <a:srcRect l="21914" r="21913" b="-2"/>
          <a:stretch>
            <a:fillRect/>
          </a:stretch>
        </p:blipFill>
        <p:spPr>
          <a:xfrm>
            <a:off x="6420752" y="-1"/>
            <a:ext cx="5771248" cy="6857999"/>
          </a:xfrm>
          <a:prstGeom prst="rect">
            <a:avLst/>
          </a:prstGeom>
        </p:spPr>
      </p:pic>
    </p:spTree>
    <p:extLst>
      <p:ext uri="{BB962C8B-B14F-4D97-AF65-F5344CB8AC3E}">
        <p14:creationId xmlns:p14="http://schemas.microsoft.com/office/powerpoint/2010/main" val="372613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ACA730-BC27-6846-CFA7-8C323973183C}"/>
              </a:ext>
            </a:extLst>
          </p:cNvPr>
          <p:cNvSpPr>
            <a:spLocks noGrp="1"/>
          </p:cNvSpPr>
          <p:nvPr>
            <p:ph type="title"/>
          </p:nvPr>
        </p:nvSpPr>
        <p:spPr>
          <a:xfrm>
            <a:off x="700088" y="909637"/>
            <a:ext cx="6400800" cy="1307592"/>
          </a:xfrm>
        </p:spPr>
        <p:txBody>
          <a:bodyPr vert="horz" lIns="91440" tIns="45720" rIns="91440" bIns="45720" rtlCol="0">
            <a:normAutofit/>
          </a:bodyPr>
          <a:lstStyle/>
          <a:p>
            <a:pPr>
              <a:lnSpc>
                <a:spcPct val="90000"/>
              </a:lnSpc>
            </a:pPr>
            <a:r>
              <a:rPr lang="en-US" dirty="0"/>
              <a:t>Ethical Considerations</a:t>
            </a:r>
            <a:br>
              <a:rPr lang="en-US" dirty="0"/>
            </a:br>
            <a:endParaRPr lang="en-US" dirty="0"/>
          </a:p>
        </p:txBody>
      </p:sp>
      <p:cxnSp>
        <p:nvCxnSpPr>
          <p:cNvPr id="11" name="Straight Connector 10">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8EC8D62-BAF9-D629-21A8-F79F86BF4825}"/>
              </a:ext>
            </a:extLst>
          </p:cNvPr>
          <p:cNvSpPr>
            <a:spLocks noGrp="1"/>
          </p:cNvSpPr>
          <p:nvPr>
            <p:ph idx="1"/>
          </p:nvPr>
        </p:nvSpPr>
        <p:spPr>
          <a:xfrm>
            <a:off x="700088" y="2221992"/>
            <a:ext cx="6400800" cy="3739896"/>
          </a:xfrm>
        </p:spPr>
        <p:txBody>
          <a:bodyPr>
            <a:normAutofit fontScale="92500" lnSpcReduction="20000"/>
          </a:bodyPr>
          <a:lstStyle/>
          <a:p>
            <a:r>
              <a:rPr lang="en-US" b="1" dirty="0">
                <a:solidFill>
                  <a:srgbClr val="132743"/>
                </a:solidFill>
                <a:latin typeface="Cambria" pitchFamily="34" charset="0"/>
                <a:ea typeface="Cambria" pitchFamily="34" charset="-122"/>
                <a:cs typeface="Cambria" pitchFamily="34" charset="-120"/>
              </a:rPr>
              <a:t>No personal data</a:t>
            </a:r>
          </a:p>
          <a:p>
            <a:pPr lvl="1"/>
            <a:r>
              <a:rPr lang="en-US" dirty="0"/>
              <a:t>The dataset contains only public market prices and volumes no individuals are identified.</a:t>
            </a:r>
            <a:endParaRPr lang="en-US" b="1" dirty="0"/>
          </a:p>
          <a:p>
            <a:r>
              <a:rPr lang="en-US" b="1" dirty="0">
                <a:solidFill>
                  <a:srgbClr val="132743"/>
                </a:solidFill>
                <a:latin typeface="Cambria" pitchFamily="34" charset="0"/>
                <a:ea typeface="Cambria" pitchFamily="34" charset="-122"/>
                <a:cs typeface="Cambria" pitchFamily="34" charset="-120"/>
              </a:rPr>
              <a:t>Public licensed source</a:t>
            </a:r>
          </a:p>
          <a:p>
            <a:pPr lvl="1"/>
            <a:r>
              <a:rPr lang="en-US" dirty="0"/>
              <a:t>Data is retrieved through Yahoo Finance / yfinance, a widely used public API</a:t>
            </a:r>
          </a:p>
          <a:p>
            <a:r>
              <a:rPr lang="en-US" b="1" dirty="0"/>
              <a:t>No re-identification risk</a:t>
            </a:r>
          </a:p>
          <a:p>
            <a:pPr lvl="1"/>
            <a:r>
              <a:rPr lang="en-US" dirty="0"/>
              <a:t>Stock-level financial data cannot be traced back to any person.</a:t>
            </a:r>
          </a:p>
          <a:p>
            <a:r>
              <a:rPr lang="en-US" b="1" dirty="0"/>
              <a:t>Secure, local storage</a:t>
            </a:r>
          </a:p>
          <a:p>
            <a:pPr lvl="1"/>
            <a:r>
              <a:rPr lang="en-US" dirty="0"/>
              <a:t>Data is stored as local CSV files for the duration of the project and not shared beyond coursework use.</a:t>
            </a:r>
            <a:endParaRPr lang="en-US" b="1" dirty="0"/>
          </a:p>
          <a:p>
            <a:endParaRPr lang="en-US" dirty="0"/>
          </a:p>
        </p:txBody>
      </p:sp>
      <p:pic>
        <p:nvPicPr>
          <p:cNvPr id="7" name="Graphic 6" descr="Scales of Justice">
            <a:extLst>
              <a:ext uri="{FF2B5EF4-FFF2-40B4-BE49-F238E27FC236}">
                <a16:creationId xmlns:a16="http://schemas.microsoft.com/office/drawing/2014/main" id="{1D9DA269-5CC6-FE0D-2BC9-2195A8DA35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3" name="Straight Connector 12">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59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23D72C-9257-1622-A6B9-02BD306CCC65}"/>
              </a:ext>
            </a:extLst>
          </p:cNvPr>
          <p:cNvSpPr>
            <a:spLocks noGrp="1"/>
          </p:cNvSpPr>
          <p:nvPr>
            <p:ph type="title"/>
          </p:nvPr>
        </p:nvSpPr>
        <p:spPr>
          <a:xfrm>
            <a:off x="704088" y="354568"/>
            <a:ext cx="4218435" cy="2390687"/>
          </a:xfrm>
        </p:spPr>
        <p:txBody>
          <a:bodyPr>
            <a:normAutofit/>
          </a:bodyPr>
          <a:lstStyle/>
          <a:p>
            <a:r>
              <a:rPr lang="en-US" dirty="0"/>
              <a:t>Exploratory Data Analysis</a:t>
            </a:r>
            <a:br>
              <a:rPr lang="en-US" dirty="0"/>
            </a:br>
            <a:endParaRPr lang="en-US" dirty="0"/>
          </a:p>
        </p:txBody>
      </p:sp>
      <p:pic>
        <p:nvPicPr>
          <p:cNvPr id="7" name="Graphic 6" descr="Magnifying glass">
            <a:extLst>
              <a:ext uri="{FF2B5EF4-FFF2-40B4-BE49-F238E27FC236}">
                <a16:creationId xmlns:a16="http://schemas.microsoft.com/office/drawing/2014/main" id="{26B8DBAD-DD29-A2AF-D810-C92925E3C7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5383" y="3210560"/>
            <a:ext cx="2959568" cy="2959568"/>
          </a:xfrm>
          <a:prstGeom prst="rect">
            <a:avLst/>
          </a:prstGeom>
        </p:spPr>
      </p:pic>
      <p:cxnSp>
        <p:nvCxnSpPr>
          <p:cNvPr id="12" name="Straight Connector 11">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25511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6D05CB98-0C06-6067-63C4-953647497A3B}"/>
              </a:ext>
            </a:extLst>
          </p:cNvPr>
          <p:cNvPicPr>
            <a:picLocks noGrp="1" noChangeAspect="1"/>
          </p:cNvPicPr>
          <p:nvPr>
            <p:ph idx="1"/>
          </p:nvPr>
        </p:nvPicPr>
        <p:blipFill>
          <a:blip r:embed="rId3"/>
          <a:stretch>
            <a:fillRect/>
          </a:stretch>
        </p:blipFill>
        <p:spPr>
          <a:xfrm>
            <a:off x="5500888" y="662589"/>
            <a:ext cx="5915025" cy="2766411"/>
          </a:xfrm>
          <a:prstGeom prst="rect">
            <a:avLst/>
          </a:prstGeom>
        </p:spPr>
      </p:pic>
      <p:sp>
        <p:nvSpPr>
          <p:cNvPr id="8" name="TextBox 7">
            <a:extLst>
              <a:ext uri="{FF2B5EF4-FFF2-40B4-BE49-F238E27FC236}">
                <a16:creationId xmlns:a16="http://schemas.microsoft.com/office/drawing/2014/main" id="{9EF7F806-0CF9-913A-8A35-4F0301277980}"/>
              </a:ext>
            </a:extLst>
          </p:cNvPr>
          <p:cNvSpPr txBox="1"/>
          <p:nvPr/>
        </p:nvSpPr>
        <p:spPr>
          <a:xfrm>
            <a:off x="5500888" y="354568"/>
            <a:ext cx="5780158" cy="369332"/>
          </a:xfrm>
          <a:prstGeom prst="rect">
            <a:avLst/>
          </a:prstGeom>
          <a:noFill/>
        </p:spPr>
        <p:txBody>
          <a:bodyPr wrap="square" rtlCol="0">
            <a:spAutoFit/>
          </a:bodyPr>
          <a:lstStyle/>
          <a:p>
            <a:r>
              <a:rPr lang="en-US" dirty="0"/>
              <a:t>Closing Stock price of All 3 banks</a:t>
            </a:r>
          </a:p>
        </p:txBody>
      </p:sp>
      <p:sp>
        <p:nvSpPr>
          <p:cNvPr id="9" name="TextBox 8">
            <a:extLst>
              <a:ext uri="{FF2B5EF4-FFF2-40B4-BE49-F238E27FC236}">
                <a16:creationId xmlns:a16="http://schemas.microsoft.com/office/drawing/2014/main" id="{DD3C389A-D1EA-B3C8-7384-9A5B01F6B00A}"/>
              </a:ext>
            </a:extLst>
          </p:cNvPr>
          <p:cNvSpPr txBox="1"/>
          <p:nvPr/>
        </p:nvSpPr>
        <p:spPr>
          <a:xfrm>
            <a:off x="5441674" y="3429000"/>
            <a:ext cx="6391204" cy="3077766"/>
          </a:xfrm>
          <a:prstGeom prst="rect">
            <a:avLst/>
          </a:prstGeom>
          <a:noFill/>
        </p:spPr>
        <p:txBody>
          <a:bodyPr wrap="square" rtlCol="0">
            <a:spAutoFit/>
          </a:bodyPr>
          <a:lstStyle/>
          <a:p>
            <a:r>
              <a:rPr lang="en-US" sz="1600" b="1" dirty="0"/>
              <a:t>Goldman Sachs</a:t>
            </a:r>
          </a:p>
          <a:p>
            <a:pPr marL="628650" lvl="1" indent="-171450">
              <a:buFont typeface="Arial" panose="020B0604020202020204" pitchFamily="34" charset="0"/>
              <a:buChar char="•"/>
            </a:pPr>
            <a:r>
              <a:rPr lang="en-US" sz="1200" dirty="0"/>
              <a:t>Shows the strongest long-term growth.</a:t>
            </a:r>
          </a:p>
          <a:p>
            <a:pPr marL="628650" lvl="1" indent="-171450">
              <a:buFont typeface="Arial" panose="020B0604020202020204" pitchFamily="34" charset="0"/>
              <a:buChar char="•"/>
            </a:pPr>
            <a:r>
              <a:rPr lang="en-US" sz="1200" dirty="0"/>
              <a:t>Its price went up from roughly 150 in 2015 to more than 1000 by 2026.</a:t>
            </a:r>
          </a:p>
          <a:p>
            <a:pPr marL="628650" lvl="1" indent="-171450">
              <a:buFont typeface="Arial" panose="020B0604020202020204" pitchFamily="34" charset="0"/>
              <a:buChar char="•"/>
            </a:pPr>
            <a:r>
              <a:rPr lang="en-US" sz="1200" dirty="0"/>
              <a:t>It had a big increase after 2020.</a:t>
            </a:r>
          </a:p>
          <a:p>
            <a:pPr marL="628650" lvl="1" indent="-171450">
              <a:buFont typeface="Arial" panose="020B0604020202020204" pitchFamily="34" charset="0"/>
              <a:buChar char="•"/>
            </a:pPr>
            <a:r>
              <a:rPr lang="en-US" sz="1200" dirty="0"/>
              <a:t>This shows good market performance and strong investor confidence.</a:t>
            </a:r>
          </a:p>
          <a:p>
            <a:r>
              <a:rPr lang="en-US" sz="1600" b="1" dirty="0"/>
              <a:t>Barclays</a:t>
            </a:r>
          </a:p>
          <a:p>
            <a:pPr marL="628650" lvl="1" indent="-171450">
              <a:buFont typeface="Arial" panose="020B0604020202020204" pitchFamily="34" charset="0"/>
              <a:buChar char="•"/>
            </a:pPr>
            <a:r>
              <a:rPr lang="en-US" sz="1200" dirty="0"/>
              <a:t>Begun around 240 in 2015.</a:t>
            </a:r>
          </a:p>
          <a:p>
            <a:pPr marL="628650" lvl="1" indent="-171450">
              <a:buFont typeface="Arial" panose="020B0604020202020204" pitchFamily="34" charset="0"/>
              <a:buChar char="•"/>
            </a:pPr>
            <a:r>
              <a:rPr lang="en-US" sz="1200" dirty="0"/>
              <a:t>It saw drops during 2020.</a:t>
            </a:r>
          </a:p>
          <a:p>
            <a:pPr marL="628650" lvl="1" indent="-171450">
              <a:buFont typeface="Arial" panose="020B0604020202020204" pitchFamily="34" charset="0"/>
              <a:buChar char="•"/>
            </a:pPr>
            <a:r>
              <a:rPr lang="en-US" sz="1200" dirty="0"/>
              <a:t>It bounced back strongly after 2023.</a:t>
            </a:r>
          </a:p>
          <a:p>
            <a:pPr marL="628650" lvl="1" indent="-171450">
              <a:buFont typeface="Arial" panose="020B0604020202020204" pitchFamily="34" charset="0"/>
              <a:buChar char="•"/>
            </a:pPr>
            <a:r>
              <a:rPr lang="en-US" sz="1200" dirty="0"/>
              <a:t>By 2026, it had reached about 450 to 500.</a:t>
            </a:r>
          </a:p>
          <a:p>
            <a:r>
              <a:rPr lang="en-US" sz="1400" b="1" dirty="0"/>
              <a:t>Lloyds</a:t>
            </a:r>
          </a:p>
          <a:p>
            <a:pPr marL="628650" lvl="1" indent="-171450">
              <a:buFont typeface="Arial" panose="020B0604020202020204" pitchFamily="34" charset="0"/>
              <a:buChar char="•"/>
            </a:pPr>
            <a:r>
              <a:rPr lang="en-US" sz="1200" dirty="0"/>
              <a:t>Had the lowest stock prices throughout the period.</a:t>
            </a:r>
          </a:p>
          <a:p>
            <a:pPr marL="628650" lvl="1" indent="-171450">
              <a:buFont typeface="Arial" panose="020B0604020202020204" pitchFamily="34" charset="0"/>
              <a:buChar char="•"/>
            </a:pPr>
            <a:r>
              <a:rPr lang="en-US" sz="1200" dirty="0"/>
              <a:t>It dropped a lot during 2020.</a:t>
            </a:r>
          </a:p>
          <a:p>
            <a:pPr marL="628650" lvl="1" indent="-171450">
              <a:buFont typeface="Arial" panose="020B0604020202020204" pitchFamily="34" charset="0"/>
              <a:buChar char="•"/>
            </a:pPr>
            <a:r>
              <a:rPr lang="en-US" sz="1200" dirty="0"/>
              <a:t>It slowly recovered after 2023.</a:t>
            </a:r>
          </a:p>
          <a:p>
            <a:pPr marL="628650" lvl="1" indent="-171450">
              <a:buFont typeface="Arial" panose="020B0604020202020204" pitchFamily="34" charset="0"/>
              <a:buChar char="•"/>
            </a:pPr>
            <a:r>
              <a:rPr lang="en-US" sz="1200" dirty="0"/>
              <a:t>Its growth was much slower compared to Goldman Sachs and Barclays</a:t>
            </a:r>
            <a:r>
              <a:rPr lang="en-US" sz="1600" dirty="0"/>
              <a:t>.</a:t>
            </a:r>
          </a:p>
        </p:txBody>
      </p:sp>
    </p:spTree>
    <p:extLst>
      <p:ext uri="{BB962C8B-B14F-4D97-AF65-F5344CB8AC3E}">
        <p14:creationId xmlns:p14="http://schemas.microsoft.com/office/powerpoint/2010/main" val="3981430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05D34E-05D9-F549-5D14-702BBAD94198}"/>
              </a:ext>
            </a:extLst>
          </p:cNvPr>
          <p:cNvSpPr>
            <a:spLocks noGrp="1"/>
          </p:cNvSpPr>
          <p:nvPr>
            <p:ph type="title"/>
          </p:nvPr>
        </p:nvSpPr>
        <p:spPr>
          <a:xfrm>
            <a:off x="704088" y="914400"/>
            <a:ext cx="6321401" cy="798194"/>
          </a:xfrm>
        </p:spPr>
        <p:txBody>
          <a:bodyPr>
            <a:normAutofit fontScale="90000"/>
          </a:bodyPr>
          <a:lstStyle/>
          <a:p>
            <a:r>
              <a:rPr lang="en-US" dirty="0"/>
              <a:t>Trading volume Comparision</a:t>
            </a:r>
          </a:p>
        </p:txBody>
      </p:sp>
      <p:cxnSp>
        <p:nvCxnSpPr>
          <p:cNvPr id="14" name="Straight Connector 1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4718C8CA-3306-F022-21D8-4E815FC8FCEC}"/>
              </a:ext>
            </a:extLst>
          </p:cNvPr>
          <p:cNvPicPr>
            <a:picLocks noChangeAspect="1"/>
          </p:cNvPicPr>
          <p:nvPr/>
        </p:nvPicPr>
        <p:blipFill>
          <a:blip r:embed="rId2"/>
          <a:stretch>
            <a:fillRect/>
          </a:stretch>
        </p:blipFill>
        <p:spPr>
          <a:xfrm>
            <a:off x="506552" y="2350215"/>
            <a:ext cx="6422886" cy="3082984"/>
          </a:xfrm>
          <a:prstGeom prst="rect">
            <a:avLst/>
          </a:prstGeom>
        </p:spPr>
      </p:pic>
      <p:sp>
        <p:nvSpPr>
          <p:cNvPr id="23" name="Content Placeholder 8">
            <a:extLst>
              <a:ext uri="{FF2B5EF4-FFF2-40B4-BE49-F238E27FC236}">
                <a16:creationId xmlns:a16="http://schemas.microsoft.com/office/drawing/2014/main" id="{14358DB0-50EA-E467-AA6F-E901F0F1D43C}"/>
              </a:ext>
            </a:extLst>
          </p:cNvPr>
          <p:cNvSpPr>
            <a:spLocks noGrp="1"/>
          </p:cNvSpPr>
          <p:nvPr>
            <p:ph idx="1"/>
          </p:nvPr>
        </p:nvSpPr>
        <p:spPr>
          <a:xfrm>
            <a:off x="7200900" y="851026"/>
            <a:ext cx="4191001" cy="5137721"/>
          </a:xfrm>
        </p:spPr>
        <p:txBody>
          <a:bodyPr anchor="b">
            <a:normAutofit fontScale="25000" lnSpcReduction="20000"/>
          </a:bodyPr>
          <a:lstStyle/>
          <a:p>
            <a:r>
              <a:rPr lang="en-US" sz="6400" b="1" dirty="0"/>
              <a:t>Lloyds:</a:t>
            </a:r>
          </a:p>
          <a:p>
            <a:pPr lvl="1"/>
            <a:r>
              <a:rPr lang="en-US" sz="4600" dirty="0"/>
              <a:t>Lloyds has the most trades every day.</a:t>
            </a:r>
          </a:p>
          <a:p>
            <a:pPr lvl="1"/>
            <a:r>
              <a:rPr lang="en-US" sz="4600" dirty="0"/>
              <a:t>There are several big jumps where more than 700 million shares were traded.</a:t>
            </a:r>
          </a:p>
          <a:p>
            <a:pPr lvl="1"/>
            <a:r>
              <a:rPr lang="en-US" sz="4600" dirty="0"/>
              <a:t>This shows a lot of people are buying and selling, and there's plenty of liquid market.</a:t>
            </a:r>
          </a:p>
          <a:p>
            <a:r>
              <a:rPr lang="en-US" sz="6400" b="1" dirty="0"/>
              <a:t>Barclays</a:t>
            </a:r>
          </a:p>
          <a:p>
            <a:pPr lvl="1"/>
            <a:r>
              <a:rPr lang="en-US" sz="4600" dirty="0"/>
              <a:t>Barclays has a steady but not very high level of trading.</a:t>
            </a:r>
          </a:p>
          <a:p>
            <a:pPr lvl="1"/>
            <a:r>
              <a:rPr lang="en-US" sz="4600" dirty="0"/>
              <a:t>It's less than Lloyds but more than Goldman Sachs.</a:t>
            </a:r>
          </a:p>
          <a:p>
            <a:r>
              <a:rPr lang="en-US" sz="6400" b="1" dirty="0"/>
              <a:t>Goldman Sachs</a:t>
            </a:r>
          </a:p>
          <a:p>
            <a:pPr lvl="1"/>
            <a:r>
              <a:rPr lang="en-US" sz="4600" dirty="0"/>
              <a:t>Goldman Sachs has the least trading activity.</a:t>
            </a:r>
          </a:p>
          <a:p>
            <a:pPr lvl="1"/>
            <a:r>
              <a:rPr lang="en-US" sz="4600" dirty="0"/>
              <a:t>Its trading pattern is more consistent.</a:t>
            </a:r>
          </a:p>
          <a:p>
            <a:pPr lvl="1"/>
            <a:r>
              <a:rPr lang="en-US" sz="4600" dirty="0"/>
              <a:t>Even though it's not traded as much, its stock price went up a lot.</a:t>
            </a:r>
          </a:p>
          <a:p>
            <a:r>
              <a:rPr lang="en-US" sz="6400" b="1" dirty="0"/>
              <a:t>Important Insight</a:t>
            </a:r>
          </a:p>
          <a:p>
            <a:pPr lvl="1"/>
            <a:r>
              <a:rPr lang="en-US" sz="4600" dirty="0"/>
              <a:t>Just because a company has a lot of trades doesn't mean its stock will grow more.</a:t>
            </a:r>
          </a:p>
          <a:p>
            <a:pPr lvl="1"/>
            <a:r>
              <a:rPr lang="en-US" sz="4600" dirty="0"/>
              <a:t>Lloyds has the most trades.</a:t>
            </a:r>
          </a:p>
          <a:p>
            <a:pPr lvl="1"/>
            <a:r>
              <a:rPr lang="en-US" sz="4600" dirty="0"/>
              <a:t>Goldman Sachs has the biggest price rise.</a:t>
            </a:r>
          </a:p>
          <a:p>
            <a:endParaRPr lang="en-US" dirty="0"/>
          </a:p>
        </p:txBody>
      </p:sp>
      <p:cxnSp>
        <p:nvCxnSpPr>
          <p:cNvPr id="16" name="Straight Connector 15">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587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535CA2-8F8D-FF47-8465-9F1C944AF01D}"/>
              </a:ext>
            </a:extLst>
          </p:cNvPr>
          <p:cNvSpPr>
            <a:spLocks noGrp="1"/>
          </p:cNvSpPr>
          <p:nvPr>
            <p:ph type="title"/>
          </p:nvPr>
        </p:nvSpPr>
        <p:spPr>
          <a:xfrm>
            <a:off x="704088" y="914400"/>
            <a:ext cx="10687812" cy="798194"/>
          </a:xfrm>
        </p:spPr>
        <p:txBody>
          <a:bodyPr>
            <a:normAutofit/>
          </a:bodyPr>
          <a:lstStyle/>
          <a:p>
            <a:r>
              <a:rPr lang="en-US" dirty="0"/>
              <a:t>Volatility Comparision</a:t>
            </a:r>
          </a:p>
        </p:txBody>
      </p:sp>
      <p:cxnSp>
        <p:nvCxnSpPr>
          <p:cNvPr id="14" name="Straight Connector 1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5CD5E119-F9B0-34E7-B153-B1520EA057D9}"/>
              </a:ext>
            </a:extLst>
          </p:cNvPr>
          <p:cNvPicPr>
            <a:picLocks noChangeAspect="1"/>
          </p:cNvPicPr>
          <p:nvPr/>
        </p:nvPicPr>
        <p:blipFill>
          <a:blip r:embed="rId2"/>
          <a:stretch>
            <a:fillRect/>
          </a:stretch>
        </p:blipFill>
        <p:spPr>
          <a:xfrm>
            <a:off x="1240819" y="1869439"/>
            <a:ext cx="5190750" cy="4139625"/>
          </a:xfrm>
          <a:prstGeom prst="rect">
            <a:avLst/>
          </a:prstGeom>
        </p:spPr>
      </p:pic>
      <p:sp>
        <p:nvSpPr>
          <p:cNvPr id="9" name="Content Placeholder 8">
            <a:extLst>
              <a:ext uri="{FF2B5EF4-FFF2-40B4-BE49-F238E27FC236}">
                <a16:creationId xmlns:a16="http://schemas.microsoft.com/office/drawing/2014/main" id="{CD894D5D-7758-0BE6-872D-7F8575FC13D5}"/>
              </a:ext>
            </a:extLst>
          </p:cNvPr>
          <p:cNvSpPr>
            <a:spLocks noGrp="1"/>
          </p:cNvSpPr>
          <p:nvPr>
            <p:ph idx="1"/>
          </p:nvPr>
        </p:nvSpPr>
        <p:spPr>
          <a:xfrm>
            <a:off x="7200900" y="914400"/>
            <a:ext cx="4191001" cy="5074347"/>
          </a:xfrm>
        </p:spPr>
        <p:txBody>
          <a:bodyPr anchor="b">
            <a:normAutofit fontScale="77500" lnSpcReduction="20000"/>
          </a:bodyPr>
          <a:lstStyle/>
          <a:p>
            <a:r>
              <a:rPr lang="en-US" sz="2900" b="1" dirty="0"/>
              <a:t>Barclays</a:t>
            </a:r>
          </a:p>
          <a:p>
            <a:pPr lvl="1"/>
            <a:r>
              <a:rPr lang="en-US" sz="2000" dirty="0"/>
              <a:t>Highest volatility.</a:t>
            </a:r>
          </a:p>
          <a:p>
            <a:pPr lvl="1"/>
            <a:r>
              <a:rPr lang="en-US" sz="2000" dirty="0"/>
              <a:t>Most affected by market changes.</a:t>
            </a:r>
          </a:p>
          <a:p>
            <a:pPr lvl="1"/>
            <a:r>
              <a:rPr lang="en-US" sz="2000" dirty="0"/>
              <a:t>Higher risk for short-term investments.</a:t>
            </a:r>
          </a:p>
          <a:p>
            <a:r>
              <a:rPr lang="en-US" sz="2900" dirty="0"/>
              <a:t>Lloyds</a:t>
            </a:r>
          </a:p>
          <a:p>
            <a:pPr lvl="1"/>
            <a:r>
              <a:rPr lang="en-US" sz="1700" dirty="0"/>
              <a:t>Moderate volatility.</a:t>
            </a:r>
          </a:p>
          <a:p>
            <a:pPr lvl="1"/>
            <a:r>
              <a:rPr lang="en-US" sz="1700" dirty="0"/>
              <a:t>More stable than Barclays.</a:t>
            </a:r>
          </a:p>
          <a:p>
            <a:r>
              <a:rPr lang="en-US" b="1" dirty="0"/>
              <a:t>Goldman Sachs</a:t>
            </a:r>
            <a:endParaRPr lang="en-US" dirty="0"/>
          </a:p>
          <a:p>
            <a:pPr lvl="1"/>
            <a:r>
              <a:rPr lang="en-US" dirty="0"/>
              <a:t>Lowest volatility.</a:t>
            </a:r>
          </a:p>
          <a:p>
            <a:pPr lvl="1"/>
            <a:r>
              <a:rPr lang="en-US" dirty="0"/>
              <a:t>Surprisingly steady, even though it had strong growth.</a:t>
            </a:r>
          </a:p>
          <a:p>
            <a:pPr marL="0" indent="0">
              <a:buNone/>
            </a:pPr>
            <a:r>
              <a:rPr lang="en-US" b="1" dirty="0"/>
              <a:t>Most Important Finding</a:t>
            </a:r>
            <a:endParaRPr lang="en-US" dirty="0"/>
          </a:p>
          <a:p>
            <a:r>
              <a:rPr lang="en-US" b="1" dirty="0"/>
              <a:t>Goldman Sachs achieved:</a:t>
            </a:r>
            <a:endParaRPr lang="en-US" dirty="0"/>
          </a:p>
          <a:p>
            <a:pPr lvl="1"/>
            <a:r>
              <a:rPr lang="en-US" sz="1500" dirty="0"/>
              <a:t>Highest long-term growth</a:t>
            </a:r>
          </a:p>
          <a:p>
            <a:pPr lvl="1"/>
            <a:r>
              <a:rPr lang="en-US" sz="1500" dirty="0"/>
              <a:t>Lowest volatility</a:t>
            </a:r>
          </a:p>
          <a:p>
            <a:pPr lvl="1"/>
            <a:r>
              <a:rPr lang="en-US" sz="1500" dirty="0"/>
              <a:t>This mix shows strong and steady market performance.</a:t>
            </a:r>
          </a:p>
          <a:p>
            <a:endParaRPr lang="en-US" dirty="0"/>
          </a:p>
        </p:txBody>
      </p:sp>
      <p:cxnSp>
        <p:nvCxnSpPr>
          <p:cNvPr id="16" name="Straight Connector 15">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414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CEC73-425C-1463-931B-72DD252CEDE3}"/>
              </a:ext>
            </a:extLst>
          </p:cNvPr>
          <p:cNvSpPr>
            <a:spLocks noGrp="1"/>
          </p:cNvSpPr>
          <p:nvPr>
            <p:ph type="title"/>
          </p:nvPr>
        </p:nvSpPr>
        <p:spPr/>
        <p:txBody>
          <a:bodyPr>
            <a:normAutofit fontScale="90000"/>
          </a:bodyPr>
          <a:lstStyle/>
          <a:p>
            <a:r>
              <a:rPr lang="en-US" dirty="0"/>
              <a:t>Pre-processing &amp; Feature Engineering</a:t>
            </a:r>
            <a:br>
              <a:rPr lang="en-US" dirty="0"/>
            </a:br>
            <a:endParaRPr lang="en-US" dirty="0"/>
          </a:p>
        </p:txBody>
      </p:sp>
      <p:sp>
        <p:nvSpPr>
          <p:cNvPr id="4" name="Text Placeholder 3">
            <a:extLst>
              <a:ext uri="{FF2B5EF4-FFF2-40B4-BE49-F238E27FC236}">
                <a16:creationId xmlns:a16="http://schemas.microsoft.com/office/drawing/2014/main" id="{98990031-7865-F5ED-D6D6-129629E5759F}"/>
              </a:ext>
            </a:extLst>
          </p:cNvPr>
          <p:cNvSpPr>
            <a:spLocks noGrp="1"/>
          </p:cNvSpPr>
          <p:nvPr>
            <p:ph type="body" idx="1"/>
          </p:nvPr>
        </p:nvSpPr>
        <p:spPr/>
        <p:txBody>
          <a:bodyPr/>
          <a:lstStyle/>
          <a:p>
            <a:r>
              <a:rPr lang="en-US" dirty="0"/>
              <a:t>Cleaning</a:t>
            </a:r>
          </a:p>
        </p:txBody>
      </p:sp>
      <p:sp>
        <p:nvSpPr>
          <p:cNvPr id="5" name="Content Placeholder 4">
            <a:extLst>
              <a:ext uri="{FF2B5EF4-FFF2-40B4-BE49-F238E27FC236}">
                <a16:creationId xmlns:a16="http://schemas.microsoft.com/office/drawing/2014/main" id="{D35499BE-0196-DA4E-720D-CAC093B1032A}"/>
              </a:ext>
            </a:extLst>
          </p:cNvPr>
          <p:cNvSpPr>
            <a:spLocks noGrp="1"/>
          </p:cNvSpPr>
          <p:nvPr>
            <p:ph sz="half" idx="2"/>
          </p:nvPr>
        </p:nvSpPr>
        <p:spPr/>
        <p:txBody>
          <a:bodyPr>
            <a:normAutofit/>
          </a:bodyPr>
          <a:lstStyle/>
          <a:p>
            <a:pPr marL="0" indent="0">
              <a:buNone/>
            </a:pPr>
            <a:r>
              <a:rPr lang="en-US" dirty="0"/>
              <a:t>• Drop rows with missing Date</a:t>
            </a:r>
          </a:p>
          <a:p>
            <a:r>
              <a:rPr lang="en-US" dirty="0"/>
              <a:t>Convert Date to datetime; sort chronologically</a:t>
            </a:r>
          </a:p>
          <a:p>
            <a:r>
              <a:rPr lang="en-US" dirty="0"/>
              <a:t>Convert Open/High/Low/Close/Volume to numeric</a:t>
            </a:r>
          </a:p>
          <a:p>
            <a:r>
              <a:rPr lang="en-US" dirty="0"/>
              <a:t>Encode Bank with LabelEncoder</a:t>
            </a:r>
          </a:p>
          <a:p>
            <a:r>
              <a:rPr lang="en-US" dirty="0"/>
              <a:t>Check duplicates &amp; High/Low logical consistency</a:t>
            </a:r>
          </a:p>
          <a:p>
            <a:endParaRPr lang="en-US" dirty="0"/>
          </a:p>
        </p:txBody>
      </p:sp>
      <p:sp>
        <p:nvSpPr>
          <p:cNvPr id="6" name="Text Placeholder 5">
            <a:extLst>
              <a:ext uri="{FF2B5EF4-FFF2-40B4-BE49-F238E27FC236}">
                <a16:creationId xmlns:a16="http://schemas.microsoft.com/office/drawing/2014/main" id="{AA9D8212-A186-5B17-29A4-11F9FE3E9D94}"/>
              </a:ext>
            </a:extLst>
          </p:cNvPr>
          <p:cNvSpPr>
            <a:spLocks noGrp="1"/>
          </p:cNvSpPr>
          <p:nvPr>
            <p:ph type="body" sz="quarter" idx="3"/>
          </p:nvPr>
        </p:nvSpPr>
        <p:spPr/>
        <p:txBody>
          <a:bodyPr/>
          <a:lstStyle/>
          <a:p>
            <a:r>
              <a:rPr lang="en-US" dirty="0"/>
              <a:t>Feature Engineering</a:t>
            </a:r>
          </a:p>
        </p:txBody>
      </p:sp>
      <p:sp>
        <p:nvSpPr>
          <p:cNvPr id="7" name="Content Placeholder 6">
            <a:extLst>
              <a:ext uri="{FF2B5EF4-FFF2-40B4-BE49-F238E27FC236}">
                <a16:creationId xmlns:a16="http://schemas.microsoft.com/office/drawing/2014/main" id="{1E94E06B-9CCF-0DDC-2363-478EA8A33308}"/>
              </a:ext>
            </a:extLst>
          </p:cNvPr>
          <p:cNvSpPr>
            <a:spLocks noGrp="1"/>
          </p:cNvSpPr>
          <p:nvPr>
            <p:ph sz="quarter" idx="4"/>
          </p:nvPr>
        </p:nvSpPr>
        <p:spPr/>
        <p:txBody>
          <a:bodyPr>
            <a:normAutofit/>
          </a:bodyPr>
          <a:lstStyle/>
          <a:p>
            <a:r>
              <a:rPr lang="en-US" dirty="0"/>
              <a:t>Lag features: Lag1, Lag2, Lag3 (previous close)</a:t>
            </a:r>
          </a:p>
          <a:p>
            <a:r>
              <a:rPr lang="en-US" dirty="0"/>
              <a:t>Rolling averages: MA5, MA10</a:t>
            </a:r>
          </a:p>
          <a:p>
            <a:r>
              <a:rPr lang="en-US" dirty="0"/>
              <a:t>Date parts: Year, Month, Day</a:t>
            </a:r>
          </a:p>
          <a:p>
            <a:r>
              <a:rPr lang="en-US" dirty="0"/>
              <a:t>MinMax scaling of Close for the LSTM sequence input</a:t>
            </a:r>
          </a:p>
          <a:p>
            <a:r>
              <a:rPr lang="en-US" dirty="0"/>
              <a:t>60-step lookback sequences for LSTM</a:t>
            </a:r>
          </a:p>
          <a:p>
            <a:endParaRPr lang="en-US" dirty="0"/>
          </a:p>
          <a:p>
            <a:endParaRPr lang="en-US" dirty="0"/>
          </a:p>
          <a:p>
            <a:endParaRPr lang="en-US" dirty="0"/>
          </a:p>
          <a:p>
            <a:endParaRPr lang="en-US" dirty="0"/>
          </a:p>
        </p:txBody>
      </p:sp>
      <p:sp>
        <p:nvSpPr>
          <p:cNvPr id="8" name="TextBox 7">
            <a:extLst>
              <a:ext uri="{FF2B5EF4-FFF2-40B4-BE49-F238E27FC236}">
                <a16:creationId xmlns:a16="http://schemas.microsoft.com/office/drawing/2014/main" id="{8D8EF647-38A4-6608-E96A-8B40B9B1A0CA}"/>
              </a:ext>
            </a:extLst>
          </p:cNvPr>
          <p:cNvSpPr txBox="1"/>
          <p:nvPr/>
        </p:nvSpPr>
        <p:spPr>
          <a:xfrm>
            <a:off x="896293" y="6211669"/>
            <a:ext cx="10248523" cy="646331"/>
          </a:xfrm>
          <a:prstGeom prst="rect">
            <a:avLst/>
          </a:prstGeom>
          <a:noFill/>
        </p:spPr>
        <p:txBody>
          <a:bodyPr wrap="square" rtlCol="0">
            <a:spAutoFit/>
          </a:bodyPr>
          <a:lstStyle/>
          <a:p>
            <a:r>
              <a:rPr lang="en-US" dirty="0"/>
              <a:t>Train-Test Split: 80% train / 20% test, time-ordered (no shuffling) applied consistently across ARIMA, Random Forest, and LSTM.</a:t>
            </a:r>
          </a:p>
        </p:txBody>
      </p:sp>
    </p:spTree>
    <p:extLst>
      <p:ext uri="{BB962C8B-B14F-4D97-AF65-F5344CB8AC3E}">
        <p14:creationId xmlns:p14="http://schemas.microsoft.com/office/powerpoint/2010/main" val="1695991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8C003-920C-C8DA-3F16-A7E59D0A4953}"/>
              </a:ext>
            </a:extLst>
          </p:cNvPr>
          <p:cNvSpPr>
            <a:spLocks noGrp="1"/>
          </p:cNvSpPr>
          <p:nvPr>
            <p:ph type="title"/>
          </p:nvPr>
        </p:nvSpPr>
        <p:spPr/>
        <p:txBody>
          <a:bodyPr>
            <a:normAutofit/>
          </a:bodyPr>
          <a:lstStyle/>
          <a:p>
            <a:r>
              <a:rPr lang="en-US" dirty="0"/>
              <a:t>Models Used</a:t>
            </a:r>
          </a:p>
        </p:txBody>
      </p:sp>
      <p:sp>
        <p:nvSpPr>
          <p:cNvPr id="7" name="Content Placeholder 6">
            <a:extLst>
              <a:ext uri="{FF2B5EF4-FFF2-40B4-BE49-F238E27FC236}">
                <a16:creationId xmlns:a16="http://schemas.microsoft.com/office/drawing/2014/main" id="{F3A44C6D-618C-9080-F6F2-B25EB6D1F398}"/>
              </a:ext>
            </a:extLst>
          </p:cNvPr>
          <p:cNvSpPr>
            <a:spLocks noGrp="1"/>
          </p:cNvSpPr>
          <p:nvPr>
            <p:ph idx="1"/>
          </p:nvPr>
        </p:nvSpPr>
        <p:spPr/>
        <p:txBody>
          <a:bodyPr/>
          <a:lstStyle/>
          <a:p>
            <a:r>
              <a:rPr lang="en-US" b="1" dirty="0"/>
              <a:t>ARIMA</a:t>
            </a:r>
          </a:p>
          <a:p>
            <a:pPr lvl="1"/>
            <a:r>
              <a:rPr lang="en-US" dirty="0"/>
              <a:t>Classical statistical model on the raw closing-price series. Order (p,d,q) selected via ADF stationarity test, ACF/PACF plots, and grid search.</a:t>
            </a:r>
          </a:p>
          <a:p>
            <a:r>
              <a:rPr lang="en-US" b="1" dirty="0"/>
              <a:t>Random Forest</a:t>
            </a:r>
          </a:p>
          <a:p>
            <a:pPr lvl="1"/>
            <a:r>
              <a:rPr lang="en-US" dirty="0"/>
              <a:t>Ensemble of decision trees using engineered features (lags, moving averages, Bank, OHLCV, date parts) to predict Close.</a:t>
            </a:r>
          </a:p>
          <a:p>
            <a:r>
              <a:rPr lang="en-US" b="1" dirty="0"/>
              <a:t>LSTM</a:t>
            </a:r>
          </a:p>
          <a:p>
            <a:pPr lvl="1"/>
            <a:r>
              <a:rPr lang="en-US" dirty="0"/>
              <a:t>Recurrent neural network (2 LSTM layers + Dropout) over 60-day scaled sequences, capturing longer-term temporal dependencies.</a:t>
            </a:r>
          </a:p>
          <a:p>
            <a:pPr marL="457200" lvl="1" indent="0">
              <a:buNone/>
            </a:pPr>
            <a:endParaRPr lang="en-US" dirty="0"/>
          </a:p>
          <a:p>
            <a:endParaRPr lang="en-US" dirty="0"/>
          </a:p>
        </p:txBody>
      </p:sp>
    </p:spTree>
    <p:extLst>
      <p:ext uri="{BB962C8B-B14F-4D97-AF65-F5344CB8AC3E}">
        <p14:creationId xmlns:p14="http://schemas.microsoft.com/office/powerpoint/2010/main" val="3046651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DC43-181A-D3B5-5936-C9397C597719}"/>
              </a:ext>
            </a:extLst>
          </p:cNvPr>
          <p:cNvSpPr>
            <a:spLocks noGrp="1"/>
          </p:cNvSpPr>
          <p:nvPr>
            <p:ph type="title"/>
          </p:nvPr>
        </p:nvSpPr>
        <p:spPr/>
        <p:txBody>
          <a:bodyPr>
            <a:normAutofit/>
          </a:bodyPr>
          <a:lstStyle/>
          <a:p>
            <a:r>
              <a:rPr lang="en-US" dirty="0"/>
              <a:t>ARIMA — Model &amp; Results</a:t>
            </a:r>
          </a:p>
        </p:txBody>
      </p:sp>
      <p:sp>
        <p:nvSpPr>
          <p:cNvPr id="4" name="Text Placeholder 3">
            <a:extLst>
              <a:ext uri="{FF2B5EF4-FFF2-40B4-BE49-F238E27FC236}">
                <a16:creationId xmlns:a16="http://schemas.microsoft.com/office/drawing/2014/main" id="{A2D1867B-401A-BAF0-7F6E-84B1384B404D}"/>
              </a:ext>
            </a:extLst>
          </p:cNvPr>
          <p:cNvSpPr>
            <a:spLocks noGrp="1"/>
          </p:cNvSpPr>
          <p:nvPr>
            <p:ph type="body" idx="1"/>
          </p:nvPr>
        </p:nvSpPr>
        <p:spPr>
          <a:xfrm>
            <a:off x="704087" y="1548309"/>
            <a:ext cx="5212080" cy="657225"/>
          </a:xfrm>
        </p:spPr>
        <p:txBody>
          <a:bodyPr>
            <a:normAutofit fontScale="77500" lnSpcReduction="20000"/>
          </a:bodyPr>
          <a:lstStyle/>
          <a:p>
            <a:r>
              <a:rPr lang="en-US" dirty="0"/>
              <a:t>Code: </a:t>
            </a:r>
          </a:p>
        </p:txBody>
      </p:sp>
      <p:pic>
        <p:nvPicPr>
          <p:cNvPr id="9" name="Content Placeholder 8">
            <a:extLst>
              <a:ext uri="{FF2B5EF4-FFF2-40B4-BE49-F238E27FC236}">
                <a16:creationId xmlns:a16="http://schemas.microsoft.com/office/drawing/2014/main" id="{C6B86848-8A81-1B68-5422-68D9D5738492}"/>
              </a:ext>
            </a:extLst>
          </p:cNvPr>
          <p:cNvPicPr>
            <a:picLocks noGrp="1" noChangeAspect="1"/>
          </p:cNvPicPr>
          <p:nvPr>
            <p:ph sz="half" idx="2"/>
          </p:nvPr>
        </p:nvPicPr>
        <p:blipFill>
          <a:blip r:embed="rId2"/>
          <a:stretch>
            <a:fillRect/>
          </a:stretch>
        </p:blipFill>
        <p:spPr>
          <a:xfrm>
            <a:off x="884238" y="2205534"/>
            <a:ext cx="3723976" cy="3925140"/>
          </a:xfrm>
          <a:prstGeom prst="rect">
            <a:avLst/>
          </a:prstGeom>
        </p:spPr>
      </p:pic>
      <p:sp>
        <p:nvSpPr>
          <p:cNvPr id="6" name="Text Placeholder 5">
            <a:extLst>
              <a:ext uri="{FF2B5EF4-FFF2-40B4-BE49-F238E27FC236}">
                <a16:creationId xmlns:a16="http://schemas.microsoft.com/office/drawing/2014/main" id="{6B482A60-9796-7421-03C4-23DAE6367F86}"/>
              </a:ext>
            </a:extLst>
          </p:cNvPr>
          <p:cNvSpPr>
            <a:spLocks noGrp="1"/>
          </p:cNvSpPr>
          <p:nvPr>
            <p:ph type="body" sz="quarter" idx="3"/>
          </p:nvPr>
        </p:nvSpPr>
        <p:spPr/>
        <p:txBody>
          <a:bodyPr>
            <a:normAutofit fontScale="77500" lnSpcReduction="20000"/>
          </a:bodyPr>
          <a:lstStyle/>
          <a:p>
            <a:r>
              <a:rPr lang="en-US" dirty="0"/>
              <a:t>Order selected per bank by ADF test + grid search over p=0-5, d=1, q=0-5 (lowest AIC). Forecast via rolling one-step-ahead walk-forward on the test set.</a:t>
            </a:r>
          </a:p>
        </p:txBody>
      </p:sp>
      <p:graphicFrame>
        <p:nvGraphicFramePr>
          <p:cNvPr id="10" name="Content Placeholder 9">
            <a:extLst>
              <a:ext uri="{FF2B5EF4-FFF2-40B4-BE49-F238E27FC236}">
                <a16:creationId xmlns:a16="http://schemas.microsoft.com/office/drawing/2014/main" id="{C86B3454-2168-A2A5-E984-F9CDD79F5F0A}"/>
              </a:ext>
            </a:extLst>
          </p:cNvPr>
          <p:cNvGraphicFramePr>
            <a:graphicFrameLocks noGrp="1"/>
          </p:cNvGraphicFramePr>
          <p:nvPr>
            <p:ph sz="quarter" idx="4"/>
            <p:extLst>
              <p:ext uri="{D42A27DB-BD31-4B8C-83A1-F6EECF244321}">
                <p14:modId xmlns:p14="http://schemas.microsoft.com/office/powerpoint/2010/main" val="1640101898"/>
              </p:ext>
            </p:extLst>
          </p:nvPr>
        </p:nvGraphicFramePr>
        <p:xfrm>
          <a:off x="4861711" y="2450303"/>
          <a:ext cx="6446052" cy="2887331"/>
        </p:xfrm>
        <a:graphic>
          <a:graphicData uri="http://schemas.openxmlformats.org/drawingml/2006/table">
            <a:tbl>
              <a:tblPr firstRow="1" bandRow="1">
                <a:tableStyleId>{5C22544A-7EE6-4342-B048-85BDC9FD1C3A}</a:tableStyleId>
              </a:tblPr>
              <a:tblGrid>
                <a:gridCol w="1149790">
                  <a:extLst>
                    <a:ext uri="{9D8B030D-6E8A-4147-A177-3AD203B41FA5}">
                      <a16:colId xmlns:a16="http://schemas.microsoft.com/office/drawing/2014/main" val="3999151153"/>
                    </a:ext>
                  </a:extLst>
                </a:gridCol>
                <a:gridCol w="998894">
                  <a:extLst>
                    <a:ext uri="{9D8B030D-6E8A-4147-A177-3AD203B41FA5}">
                      <a16:colId xmlns:a16="http://schemas.microsoft.com/office/drawing/2014/main" val="328192598"/>
                    </a:ext>
                  </a:extLst>
                </a:gridCol>
                <a:gridCol w="1074342">
                  <a:extLst>
                    <a:ext uri="{9D8B030D-6E8A-4147-A177-3AD203B41FA5}">
                      <a16:colId xmlns:a16="http://schemas.microsoft.com/office/drawing/2014/main" val="435303363"/>
                    </a:ext>
                  </a:extLst>
                </a:gridCol>
                <a:gridCol w="1074342">
                  <a:extLst>
                    <a:ext uri="{9D8B030D-6E8A-4147-A177-3AD203B41FA5}">
                      <a16:colId xmlns:a16="http://schemas.microsoft.com/office/drawing/2014/main" val="2160009185"/>
                    </a:ext>
                  </a:extLst>
                </a:gridCol>
                <a:gridCol w="1208107">
                  <a:extLst>
                    <a:ext uri="{9D8B030D-6E8A-4147-A177-3AD203B41FA5}">
                      <a16:colId xmlns:a16="http://schemas.microsoft.com/office/drawing/2014/main" val="1041609895"/>
                    </a:ext>
                  </a:extLst>
                </a:gridCol>
                <a:gridCol w="940577">
                  <a:extLst>
                    <a:ext uri="{9D8B030D-6E8A-4147-A177-3AD203B41FA5}">
                      <a16:colId xmlns:a16="http://schemas.microsoft.com/office/drawing/2014/main" val="162194497"/>
                    </a:ext>
                  </a:extLst>
                </a:gridCol>
              </a:tblGrid>
              <a:tr h="432848">
                <a:tc>
                  <a:txBody>
                    <a:bodyPr/>
                    <a:lstStyle/>
                    <a:p>
                      <a:r>
                        <a:rPr lang="en-US" dirty="0"/>
                        <a:t>Bank</a:t>
                      </a:r>
                    </a:p>
                  </a:txBody>
                  <a:tcPr/>
                </a:tc>
                <a:tc>
                  <a:txBody>
                    <a:bodyPr/>
                    <a:lstStyle/>
                    <a:p>
                      <a:r>
                        <a:rPr lang="en-US" dirty="0"/>
                        <a:t>Order</a:t>
                      </a:r>
                    </a:p>
                  </a:txBody>
                  <a:tcPr/>
                </a:tc>
                <a:tc>
                  <a:txBody>
                    <a:bodyPr/>
                    <a:lstStyle/>
                    <a:p>
                      <a:r>
                        <a:rPr lang="en-US" dirty="0"/>
                        <a:t>MAE</a:t>
                      </a:r>
                    </a:p>
                  </a:txBody>
                  <a:tcPr/>
                </a:tc>
                <a:tc>
                  <a:txBody>
                    <a:bodyPr/>
                    <a:lstStyle/>
                    <a:p>
                      <a:r>
                        <a:rPr lang="en-US" dirty="0"/>
                        <a:t>RMSE</a:t>
                      </a:r>
                    </a:p>
                  </a:txBody>
                  <a:tcPr/>
                </a:tc>
                <a:tc>
                  <a:txBody>
                    <a:bodyPr/>
                    <a:lstStyle/>
                    <a:p>
                      <a:r>
                        <a:rPr lang="en-US" dirty="0"/>
                        <a:t>MAPE</a:t>
                      </a:r>
                    </a:p>
                  </a:txBody>
                  <a:tcPr/>
                </a:tc>
                <a:tc>
                  <a:txBody>
                    <a:bodyPr/>
                    <a:lstStyle/>
                    <a:p>
                      <a:r>
                        <a:rPr lang="en-US" dirty="0"/>
                        <a:t>R²</a:t>
                      </a:r>
                    </a:p>
                  </a:txBody>
                  <a:tcPr/>
                </a:tc>
                <a:extLst>
                  <a:ext uri="{0D108BD9-81ED-4DB2-BD59-A6C34878D82A}">
                    <a16:rowId xmlns:a16="http://schemas.microsoft.com/office/drawing/2014/main" val="2025965293"/>
                  </a:ext>
                </a:extLst>
              </a:tr>
              <a:tr h="432848">
                <a:tc>
                  <a:txBody>
                    <a:bodyPr/>
                    <a:lstStyle/>
                    <a:p>
                      <a:r>
                        <a:rPr lang="en-US" dirty="0"/>
                        <a:t>Lloyds</a:t>
                      </a:r>
                    </a:p>
                  </a:txBody>
                  <a:tcPr/>
                </a:tc>
                <a:tc>
                  <a:txBody>
                    <a:bodyPr/>
                    <a:lstStyle/>
                    <a:p>
                      <a:r>
                        <a:rPr lang="en-US" dirty="0"/>
                        <a:t>(4,1,2)</a:t>
                      </a:r>
                    </a:p>
                  </a:txBody>
                  <a:tcPr/>
                </a:tc>
                <a:tc>
                  <a:txBody>
                    <a:bodyPr/>
                    <a:lstStyle/>
                    <a:p>
                      <a:r>
                        <a:rPr lang="en-US" dirty="0"/>
                        <a:t>0.90</a:t>
                      </a:r>
                    </a:p>
                  </a:txBody>
                  <a:tcPr/>
                </a:tc>
                <a:tc>
                  <a:txBody>
                    <a:bodyPr/>
                    <a:lstStyle/>
                    <a:p>
                      <a:r>
                        <a:rPr lang="en-US" dirty="0"/>
                        <a:t>1.29</a:t>
                      </a:r>
                    </a:p>
                  </a:txBody>
                  <a:tcPr/>
                </a:tc>
                <a:tc>
                  <a:txBody>
                    <a:bodyPr/>
                    <a:lstStyle/>
                    <a:p>
                      <a:r>
                        <a:rPr lang="en-US" dirty="0"/>
                        <a:t>1.22%</a:t>
                      </a:r>
                    </a:p>
                  </a:txBody>
                  <a:tcPr/>
                </a:tc>
                <a:tc>
                  <a:txBody>
                    <a:bodyPr/>
                    <a:lstStyle/>
                    <a:p>
                      <a:r>
                        <a:rPr lang="en-US" dirty="0"/>
                        <a:t>0.</a:t>
                      </a:r>
                    </a:p>
                    <a:p>
                      <a:r>
                        <a:rPr lang="en-US" dirty="0"/>
                        <a:t>9948</a:t>
                      </a:r>
                    </a:p>
                  </a:txBody>
                  <a:tcPr/>
                </a:tc>
                <a:extLst>
                  <a:ext uri="{0D108BD9-81ED-4DB2-BD59-A6C34878D82A}">
                    <a16:rowId xmlns:a16="http://schemas.microsoft.com/office/drawing/2014/main" val="2251688021"/>
                  </a:ext>
                </a:extLst>
              </a:tr>
              <a:tr h="747107">
                <a:tc>
                  <a:txBody>
                    <a:bodyPr/>
                    <a:lstStyle/>
                    <a:p>
                      <a:r>
                        <a:rPr lang="en-US" dirty="0"/>
                        <a:t>Barclays</a:t>
                      </a:r>
                    </a:p>
                  </a:txBody>
                  <a:tcPr/>
                </a:tc>
                <a:tc>
                  <a:txBody>
                    <a:bodyPr/>
                    <a:lstStyle/>
                    <a:p>
                      <a:r>
                        <a:rPr lang="en-US" dirty="0"/>
                        <a:t>(0,1,0)</a:t>
                      </a:r>
                    </a:p>
                  </a:txBody>
                  <a:tcPr/>
                </a:tc>
                <a:tc>
                  <a:txBody>
                    <a:bodyPr/>
                    <a:lstStyle/>
                    <a:p>
                      <a:r>
                        <a:rPr lang="en-US" dirty="0"/>
                        <a:t>4.61</a:t>
                      </a:r>
                    </a:p>
                  </a:txBody>
                  <a:tcPr/>
                </a:tc>
                <a:tc>
                  <a:txBody>
                    <a:bodyPr/>
                    <a:lstStyle/>
                    <a:p>
                      <a:r>
                        <a:rPr lang="en-US" dirty="0"/>
                        <a:t>6.40</a:t>
                      </a:r>
                    </a:p>
                  </a:txBody>
                  <a:tcPr/>
                </a:tc>
                <a:tc>
                  <a:txBody>
                    <a:bodyPr/>
                    <a:lstStyle/>
                    <a:p>
                      <a:r>
                        <a:rPr lang="en-US" dirty="0"/>
                        <a:t>1.47%</a:t>
                      </a:r>
                    </a:p>
                  </a:txBody>
                  <a:tcPr/>
                </a:tc>
                <a:tc>
                  <a:txBody>
                    <a:bodyPr/>
                    <a:lstStyle/>
                    <a:p>
                      <a:r>
                        <a:rPr lang="en-US" dirty="0"/>
                        <a:t>0.9953</a:t>
                      </a:r>
                    </a:p>
                  </a:txBody>
                  <a:tcPr/>
                </a:tc>
                <a:extLst>
                  <a:ext uri="{0D108BD9-81ED-4DB2-BD59-A6C34878D82A}">
                    <a16:rowId xmlns:a16="http://schemas.microsoft.com/office/drawing/2014/main" val="237807819"/>
                  </a:ext>
                </a:extLst>
              </a:tr>
              <a:tr h="1067296">
                <a:tc>
                  <a:txBody>
                    <a:bodyPr/>
                    <a:lstStyle/>
                    <a:p>
                      <a:r>
                        <a:rPr lang="en-US" dirty="0"/>
                        <a:t>Goldman Sachs</a:t>
                      </a:r>
                    </a:p>
                  </a:txBody>
                  <a:tcPr/>
                </a:tc>
                <a:tc>
                  <a:txBody>
                    <a:bodyPr/>
                    <a:lstStyle/>
                    <a:p>
                      <a:r>
                        <a:rPr lang="en-US" dirty="0"/>
                        <a:t>(3,1,5)</a:t>
                      </a:r>
                    </a:p>
                    <a:p>
                      <a:endParaRPr lang="en-US" dirty="0"/>
                    </a:p>
                  </a:txBody>
                  <a:tcPr/>
                </a:tc>
                <a:tc>
                  <a:txBody>
                    <a:bodyPr/>
                    <a:lstStyle/>
                    <a:p>
                      <a:r>
                        <a:rPr lang="en-US" dirty="0"/>
                        <a:t>13.73</a:t>
                      </a:r>
                    </a:p>
                  </a:txBody>
                  <a:tcPr/>
                </a:tc>
                <a:tc>
                  <a:txBody>
                    <a:bodyPr/>
                    <a:lstStyle/>
                    <a:p>
                      <a:r>
                        <a:rPr lang="en-US" dirty="0"/>
                        <a:t>19.19</a:t>
                      </a:r>
                    </a:p>
                  </a:txBody>
                  <a:tcPr/>
                </a:tc>
                <a:tc>
                  <a:txBody>
                    <a:bodyPr/>
                    <a:lstStyle/>
                    <a:p>
                      <a:r>
                        <a:rPr lang="en-US" dirty="0"/>
                        <a:t>2.15%</a:t>
                      </a:r>
                    </a:p>
                  </a:txBody>
                  <a:tcPr/>
                </a:tc>
                <a:tc>
                  <a:txBody>
                    <a:bodyPr/>
                    <a:lstStyle/>
                    <a:p>
                      <a:r>
                        <a:rPr lang="en-US" dirty="0"/>
                        <a:t>0.9886</a:t>
                      </a:r>
                    </a:p>
                  </a:txBody>
                  <a:tcPr/>
                </a:tc>
                <a:extLst>
                  <a:ext uri="{0D108BD9-81ED-4DB2-BD59-A6C34878D82A}">
                    <a16:rowId xmlns:a16="http://schemas.microsoft.com/office/drawing/2014/main" val="2480397396"/>
                  </a:ext>
                </a:extLst>
              </a:tr>
            </a:tbl>
          </a:graphicData>
        </a:graphic>
      </p:graphicFrame>
    </p:spTree>
    <p:extLst>
      <p:ext uri="{BB962C8B-B14F-4D97-AF65-F5344CB8AC3E}">
        <p14:creationId xmlns:p14="http://schemas.microsoft.com/office/powerpoint/2010/main" val="3588916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6FB1C5E-9B5A-9F88-5DBB-B6934F867ADF}"/>
              </a:ext>
            </a:extLst>
          </p:cNvPr>
          <p:cNvSpPr>
            <a:spLocks noGrp="1"/>
          </p:cNvSpPr>
          <p:nvPr>
            <p:ph type="title"/>
          </p:nvPr>
        </p:nvSpPr>
        <p:spPr/>
        <p:txBody>
          <a:bodyPr/>
          <a:lstStyle/>
          <a:p>
            <a:r>
              <a:rPr lang="en-US" dirty="0"/>
              <a:t>ARIMA Final Results</a:t>
            </a:r>
          </a:p>
        </p:txBody>
      </p:sp>
      <p:pic>
        <p:nvPicPr>
          <p:cNvPr id="15" name="Content Placeholder 14">
            <a:extLst>
              <a:ext uri="{FF2B5EF4-FFF2-40B4-BE49-F238E27FC236}">
                <a16:creationId xmlns:a16="http://schemas.microsoft.com/office/drawing/2014/main" id="{EFE20745-7286-8E37-BA70-DC4DA4C8D316}"/>
              </a:ext>
            </a:extLst>
          </p:cNvPr>
          <p:cNvPicPr>
            <a:picLocks noGrp="1" noChangeAspect="1"/>
          </p:cNvPicPr>
          <p:nvPr>
            <p:ph idx="1"/>
          </p:nvPr>
        </p:nvPicPr>
        <p:blipFill>
          <a:blip r:embed="rId2"/>
          <a:stretch>
            <a:fillRect/>
          </a:stretch>
        </p:blipFill>
        <p:spPr>
          <a:xfrm>
            <a:off x="700088" y="1649561"/>
            <a:ext cx="10691812" cy="3171527"/>
          </a:xfrm>
          <a:prstGeom prst="rect">
            <a:avLst/>
          </a:prstGeom>
        </p:spPr>
      </p:pic>
      <p:sp>
        <p:nvSpPr>
          <p:cNvPr id="17" name="TextBox 16">
            <a:extLst>
              <a:ext uri="{FF2B5EF4-FFF2-40B4-BE49-F238E27FC236}">
                <a16:creationId xmlns:a16="http://schemas.microsoft.com/office/drawing/2014/main" id="{DF6E5B5D-39A6-515B-2DA5-13E2183BAF65}"/>
              </a:ext>
            </a:extLst>
          </p:cNvPr>
          <p:cNvSpPr txBox="1"/>
          <p:nvPr/>
        </p:nvSpPr>
        <p:spPr>
          <a:xfrm>
            <a:off x="887240" y="4897925"/>
            <a:ext cx="10004079" cy="1877437"/>
          </a:xfrm>
          <a:prstGeom prst="rect">
            <a:avLst/>
          </a:prstGeom>
          <a:noFill/>
        </p:spPr>
        <p:txBody>
          <a:bodyPr wrap="square" rtlCol="0">
            <a:spAutoFit/>
          </a:bodyPr>
          <a:lstStyle/>
          <a:p>
            <a:r>
              <a:rPr lang="en-US" sz="1600" b="1" dirty="0"/>
              <a:t>Important Finding:</a:t>
            </a:r>
          </a:p>
          <a:p>
            <a:r>
              <a:rPr lang="en-US" sz="1600" dirty="0"/>
              <a:t>Goldman Sachs initially returned R² ≈ -2.1 billion one walk-forward step numerically diverged (optimizer instability on the more complex (3,1,5) order) and wrecked every metric. Added a guard that detects any single-step forecast implying an unrealistic &gt;50% price jump and falls back to a persistence value for that step 5 of 574 steps were caught and corrected, producing the clean R² = 0.9886 above.</a:t>
            </a:r>
          </a:p>
          <a:p>
            <a:endParaRPr lang="en-US" dirty="0"/>
          </a:p>
          <a:p>
            <a:endParaRPr lang="en-US" dirty="0"/>
          </a:p>
        </p:txBody>
      </p:sp>
    </p:spTree>
    <p:extLst>
      <p:ext uri="{BB962C8B-B14F-4D97-AF65-F5344CB8AC3E}">
        <p14:creationId xmlns:p14="http://schemas.microsoft.com/office/powerpoint/2010/main" val="2395996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2F88-0E2E-F978-86E0-06AE33433A9D}"/>
              </a:ext>
            </a:extLst>
          </p:cNvPr>
          <p:cNvSpPr>
            <a:spLocks noGrp="1"/>
          </p:cNvSpPr>
          <p:nvPr>
            <p:ph type="title"/>
          </p:nvPr>
        </p:nvSpPr>
        <p:spPr>
          <a:xfrm>
            <a:off x="700635" y="914400"/>
            <a:ext cx="10691265" cy="905347"/>
          </a:xfrm>
        </p:spPr>
        <p:txBody>
          <a:bodyPr>
            <a:normAutofit/>
          </a:bodyPr>
          <a:lstStyle/>
          <a:p>
            <a:r>
              <a:rPr lang="en-US" dirty="0"/>
              <a:t>Random Forest - Model &amp; Results</a:t>
            </a:r>
          </a:p>
        </p:txBody>
      </p:sp>
      <p:sp>
        <p:nvSpPr>
          <p:cNvPr id="4" name="Rectangle: Rounded Corners 3">
            <a:extLst>
              <a:ext uri="{FF2B5EF4-FFF2-40B4-BE49-F238E27FC236}">
                <a16:creationId xmlns:a16="http://schemas.microsoft.com/office/drawing/2014/main" id="{CEAB0EF1-7D9A-FE30-5744-19D9739EC53F}"/>
              </a:ext>
            </a:extLst>
          </p:cNvPr>
          <p:cNvSpPr/>
          <p:nvPr/>
        </p:nvSpPr>
        <p:spPr>
          <a:xfrm>
            <a:off x="1394234" y="2758948"/>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MAE </a:t>
            </a:r>
          </a:p>
          <a:p>
            <a:pPr algn="ctr"/>
            <a:endParaRPr lang="en-US" dirty="0"/>
          </a:p>
          <a:p>
            <a:pPr algn="ctr"/>
            <a:r>
              <a:rPr lang="en-US" dirty="0"/>
              <a:t>5.25</a:t>
            </a:r>
          </a:p>
        </p:txBody>
      </p:sp>
      <p:sp>
        <p:nvSpPr>
          <p:cNvPr id="10" name="Rectangle: Rounded Corners 9">
            <a:extLst>
              <a:ext uri="{FF2B5EF4-FFF2-40B4-BE49-F238E27FC236}">
                <a16:creationId xmlns:a16="http://schemas.microsoft.com/office/drawing/2014/main" id="{9E83E96E-5563-BAEA-B315-3EC67537A1D5}"/>
              </a:ext>
            </a:extLst>
          </p:cNvPr>
          <p:cNvSpPr/>
          <p:nvPr/>
        </p:nvSpPr>
        <p:spPr>
          <a:xfrm>
            <a:off x="7818752" y="2763344"/>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R²</a:t>
            </a:r>
          </a:p>
          <a:p>
            <a:pPr algn="ctr"/>
            <a:endParaRPr lang="en-US" dirty="0"/>
          </a:p>
          <a:p>
            <a:pPr algn="ctr"/>
            <a:r>
              <a:rPr lang="en-US" dirty="0"/>
              <a:t>0.9988</a:t>
            </a:r>
          </a:p>
        </p:txBody>
      </p:sp>
      <p:sp>
        <p:nvSpPr>
          <p:cNvPr id="11" name="TextBox 10">
            <a:extLst>
              <a:ext uri="{FF2B5EF4-FFF2-40B4-BE49-F238E27FC236}">
                <a16:creationId xmlns:a16="http://schemas.microsoft.com/office/drawing/2014/main" id="{DB5516FA-600F-DB35-17AA-4F60578ACD49}"/>
              </a:ext>
            </a:extLst>
          </p:cNvPr>
          <p:cNvSpPr txBox="1"/>
          <p:nvPr/>
        </p:nvSpPr>
        <p:spPr>
          <a:xfrm>
            <a:off x="1013988" y="1720158"/>
            <a:ext cx="9741529" cy="646331"/>
          </a:xfrm>
          <a:prstGeom prst="rect">
            <a:avLst/>
          </a:prstGeom>
          <a:noFill/>
        </p:spPr>
        <p:txBody>
          <a:bodyPr wrap="square" rtlCol="0">
            <a:spAutoFit/>
          </a:bodyPr>
          <a:lstStyle/>
          <a:p>
            <a:r>
              <a:rPr lang="en-US" dirty="0"/>
              <a:t>Tuned via RandomizedSearchCV with TimeSeriesSplit (20 candidates × 5 folds) over Bank, OHLCV, Lag1-3, MA5, MA10, with a time-ordered 80/20 split across all 3 banks combined.</a:t>
            </a:r>
          </a:p>
        </p:txBody>
      </p:sp>
      <p:sp>
        <p:nvSpPr>
          <p:cNvPr id="12" name="TextBox 11">
            <a:extLst>
              <a:ext uri="{FF2B5EF4-FFF2-40B4-BE49-F238E27FC236}">
                <a16:creationId xmlns:a16="http://schemas.microsoft.com/office/drawing/2014/main" id="{9DCEB9F6-5F6D-6C3A-3977-EEEB9EE643B3}"/>
              </a:ext>
            </a:extLst>
          </p:cNvPr>
          <p:cNvSpPr txBox="1"/>
          <p:nvPr/>
        </p:nvSpPr>
        <p:spPr>
          <a:xfrm>
            <a:off x="796071" y="3754828"/>
            <a:ext cx="10366218" cy="2585323"/>
          </a:xfrm>
          <a:prstGeom prst="rect">
            <a:avLst/>
          </a:prstGeom>
          <a:noFill/>
        </p:spPr>
        <p:txBody>
          <a:bodyPr wrap="square" rtlCol="0">
            <a:spAutoFit/>
          </a:bodyPr>
          <a:lstStyle/>
          <a:p>
            <a:r>
              <a:rPr lang="en-US" b="1" dirty="0"/>
              <a:t>Fix that got it here: predict price CHANGE, not price LEVEL</a:t>
            </a:r>
          </a:p>
          <a:p>
            <a:endParaRPr lang="en-US" b="1" dirty="0"/>
          </a:p>
          <a:p>
            <a:pPr marL="742950" lvl="1" indent="-285750">
              <a:buFont typeface="Arial" panose="020B0604020202020204" pitchFamily="34" charset="0"/>
              <a:buChar char="•"/>
            </a:pPr>
            <a:r>
              <a:rPr lang="en-US" dirty="0"/>
              <a:t>n_estimators=100 · max_depth=None · min_samples_split=2 · min_samples_leaf=1 · max_features=1.0 (CV MAE=1.69, on the change-scale target)</a:t>
            </a:r>
          </a:p>
          <a:p>
            <a:pPr marL="742950" lvl="1" indent="-285750">
              <a:buFont typeface="Arial" panose="020B0604020202020204" pitchFamily="34" charset="0"/>
              <a:buChar char="•"/>
            </a:pPr>
            <a:r>
              <a:rPr lang="en-US" dirty="0"/>
              <a:t>Random Forest first scored only R²=0.498 predicting Close directly — diagnosed as a tree-model extrapolation failure: Goldman Sachs' test period is ~96% “record highs” never seen in training, and trees can't predict beyond their training range. Retargeting to predict (Close − Lag1) and reconstructing the price fixed it: R² 0.498 → 0.9988.</a:t>
            </a:r>
          </a:p>
          <a:p>
            <a:endParaRPr lang="en-US" dirty="0"/>
          </a:p>
        </p:txBody>
      </p:sp>
      <p:sp>
        <p:nvSpPr>
          <p:cNvPr id="16" name="Rectangle: Rounded Corners 15">
            <a:extLst>
              <a:ext uri="{FF2B5EF4-FFF2-40B4-BE49-F238E27FC236}">
                <a16:creationId xmlns:a16="http://schemas.microsoft.com/office/drawing/2014/main" id="{D40F81E6-614A-53CF-96A1-5217C838C06B}"/>
              </a:ext>
            </a:extLst>
          </p:cNvPr>
          <p:cNvSpPr/>
          <p:nvPr/>
        </p:nvSpPr>
        <p:spPr>
          <a:xfrm>
            <a:off x="4606493" y="2758947"/>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RMSE </a:t>
            </a:r>
          </a:p>
          <a:p>
            <a:pPr algn="ctr"/>
            <a:endParaRPr lang="en-US" dirty="0"/>
          </a:p>
          <a:p>
            <a:pPr algn="ctr"/>
            <a:r>
              <a:rPr lang="en-US" dirty="0"/>
              <a:t>8.85</a:t>
            </a:r>
          </a:p>
        </p:txBody>
      </p:sp>
    </p:spTree>
    <p:extLst>
      <p:ext uri="{BB962C8B-B14F-4D97-AF65-F5344CB8AC3E}">
        <p14:creationId xmlns:p14="http://schemas.microsoft.com/office/powerpoint/2010/main" val="1982449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7D0E-4888-CC60-48A9-B6712971C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E5912-5A96-3DB0-B8D4-95BA4C507E45}"/>
              </a:ext>
            </a:extLst>
          </p:cNvPr>
          <p:cNvSpPr>
            <a:spLocks noGrp="1"/>
          </p:cNvSpPr>
          <p:nvPr>
            <p:ph type="title"/>
          </p:nvPr>
        </p:nvSpPr>
        <p:spPr>
          <a:xfrm>
            <a:off x="700635" y="914400"/>
            <a:ext cx="10691265" cy="905347"/>
          </a:xfrm>
        </p:spPr>
        <p:txBody>
          <a:bodyPr>
            <a:normAutofit/>
          </a:bodyPr>
          <a:lstStyle/>
          <a:p>
            <a:r>
              <a:rPr lang="en-US" dirty="0"/>
              <a:t>Random Forest - Graphs</a:t>
            </a:r>
          </a:p>
        </p:txBody>
      </p:sp>
      <p:pic>
        <p:nvPicPr>
          <p:cNvPr id="5" name="Content Placeholder 4">
            <a:extLst>
              <a:ext uri="{FF2B5EF4-FFF2-40B4-BE49-F238E27FC236}">
                <a16:creationId xmlns:a16="http://schemas.microsoft.com/office/drawing/2014/main" id="{724D17A0-FBDB-F37F-2C20-2E8718F7C064}"/>
              </a:ext>
            </a:extLst>
          </p:cNvPr>
          <p:cNvPicPr>
            <a:picLocks noGrp="1" noChangeAspect="1"/>
          </p:cNvPicPr>
          <p:nvPr>
            <p:ph idx="1"/>
          </p:nvPr>
        </p:nvPicPr>
        <p:blipFill>
          <a:blip r:embed="rId2"/>
          <a:stretch>
            <a:fillRect/>
          </a:stretch>
        </p:blipFill>
        <p:spPr>
          <a:xfrm>
            <a:off x="1357239" y="1819276"/>
            <a:ext cx="8449701" cy="3733430"/>
          </a:xfrm>
          <a:prstGeom prst="rect">
            <a:avLst/>
          </a:prstGeom>
        </p:spPr>
      </p:pic>
    </p:spTree>
    <p:extLst>
      <p:ext uri="{BB962C8B-B14F-4D97-AF65-F5344CB8AC3E}">
        <p14:creationId xmlns:p14="http://schemas.microsoft.com/office/powerpoint/2010/main" val="3359794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EA37-9060-CCBC-55A9-44B59E44F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E9FB6-DD20-6B23-D5E9-74C496F25B69}"/>
              </a:ext>
            </a:extLst>
          </p:cNvPr>
          <p:cNvSpPr>
            <a:spLocks noGrp="1"/>
          </p:cNvSpPr>
          <p:nvPr>
            <p:ph type="title"/>
          </p:nvPr>
        </p:nvSpPr>
        <p:spPr>
          <a:xfrm>
            <a:off x="700635" y="914400"/>
            <a:ext cx="10691265" cy="905347"/>
          </a:xfrm>
        </p:spPr>
        <p:txBody>
          <a:bodyPr>
            <a:normAutofit/>
          </a:bodyPr>
          <a:lstStyle/>
          <a:p>
            <a:r>
              <a:rPr lang="en-US" dirty="0"/>
              <a:t>LSTM - Model &amp; Results</a:t>
            </a:r>
          </a:p>
        </p:txBody>
      </p:sp>
      <p:sp>
        <p:nvSpPr>
          <p:cNvPr id="3" name="Content Placeholder 2">
            <a:extLst>
              <a:ext uri="{FF2B5EF4-FFF2-40B4-BE49-F238E27FC236}">
                <a16:creationId xmlns:a16="http://schemas.microsoft.com/office/drawing/2014/main" id="{29AA0712-2B7D-44D7-32DA-B0B09623E271}"/>
              </a:ext>
            </a:extLst>
          </p:cNvPr>
          <p:cNvSpPr>
            <a:spLocks noGrp="1"/>
          </p:cNvSpPr>
          <p:nvPr>
            <p:ph idx="1"/>
          </p:nvPr>
        </p:nvSpPr>
        <p:spPr>
          <a:xfrm>
            <a:off x="700635" y="1819747"/>
            <a:ext cx="10691265" cy="2368205"/>
          </a:xfrm>
        </p:spPr>
        <p:txBody>
          <a:bodyPr/>
          <a:lstStyle/>
          <a:p>
            <a:r>
              <a:rPr lang="en-US" dirty="0"/>
              <a:t>2-layer LSTM with Dropout, trained on 60-step MinMax-scaled sequences of Close price (per bank, to avoid cross-bank leakage), tuned then trained for 30 epochs.</a:t>
            </a:r>
          </a:p>
        </p:txBody>
      </p:sp>
      <p:sp>
        <p:nvSpPr>
          <p:cNvPr id="5" name="Rectangle: Rounded Corners 4">
            <a:extLst>
              <a:ext uri="{FF2B5EF4-FFF2-40B4-BE49-F238E27FC236}">
                <a16:creationId xmlns:a16="http://schemas.microsoft.com/office/drawing/2014/main" id="{80D93935-6A79-2570-D268-805027D222A6}"/>
              </a:ext>
            </a:extLst>
          </p:cNvPr>
          <p:cNvSpPr/>
          <p:nvPr/>
        </p:nvSpPr>
        <p:spPr>
          <a:xfrm>
            <a:off x="1394234" y="3078178"/>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MAE</a:t>
            </a:r>
          </a:p>
          <a:p>
            <a:pPr algn="ctr"/>
            <a:endParaRPr lang="en-US" dirty="0"/>
          </a:p>
          <a:p>
            <a:pPr algn="ctr"/>
            <a:r>
              <a:rPr lang="en-US" dirty="0"/>
              <a:t>20.19</a:t>
            </a:r>
          </a:p>
        </p:txBody>
      </p:sp>
      <p:sp>
        <p:nvSpPr>
          <p:cNvPr id="6" name="Rectangle: Rounded Corners 5">
            <a:extLst>
              <a:ext uri="{FF2B5EF4-FFF2-40B4-BE49-F238E27FC236}">
                <a16:creationId xmlns:a16="http://schemas.microsoft.com/office/drawing/2014/main" id="{7663B66F-204A-92F8-20AD-EC5BA166BA7D}"/>
              </a:ext>
            </a:extLst>
          </p:cNvPr>
          <p:cNvSpPr/>
          <p:nvPr/>
        </p:nvSpPr>
        <p:spPr>
          <a:xfrm>
            <a:off x="7818752" y="3078177"/>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R²</a:t>
            </a:r>
          </a:p>
          <a:p>
            <a:pPr algn="ctr"/>
            <a:endParaRPr lang="en-US" dirty="0"/>
          </a:p>
          <a:p>
            <a:pPr algn="ctr"/>
            <a:r>
              <a:rPr lang="en-US" dirty="0"/>
              <a:t>0.9788</a:t>
            </a:r>
          </a:p>
        </p:txBody>
      </p:sp>
      <p:sp>
        <p:nvSpPr>
          <p:cNvPr id="10" name="Rectangle: Rounded Corners 9">
            <a:extLst>
              <a:ext uri="{FF2B5EF4-FFF2-40B4-BE49-F238E27FC236}">
                <a16:creationId xmlns:a16="http://schemas.microsoft.com/office/drawing/2014/main" id="{E4EED0BA-1058-37F3-E679-6818599479C1}"/>
              </a:ext>
            </a:extLst>
          </p:cNvPr>
          <p:cNvSpPr/>
          <p:nvPr/>
        </p:nvSpPr>
        <p:spPr>
          <a:xfrm>
            <a:off x="4606493" y="3078177"/>
            <a:ext cx="2426328" cy="995881"/>
          </a:xfrm>
          <a:prstGeom prst="round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RMSE</a:t>
            </a:r>
          </a:p>
          <a:p>
            <a:pPr algn="ctr"/>
            <a:endParaRPr lang="en-US" dirty="0"/>
          </a:p>
          <a:p>
            <a:pPr algn="ctr"/>
            <a:r>
              <a:rPr lang="en-US" dirty="0"/>
              <a:t>37.64</a:t>
            </a:r>
          </a:p>
        </p:txBody>
      </p:sp>
      <p:sp>
        <p:nvSpPr>
          <p:cNvPr id="11" name="TextBox 10">
            <a:extLst>
              <a:ext uri="{FF2B5EF4-FFF2-40B4-BE49-F238E27FC236}">
                <a16:creationId xmlns:a16="http://schemas.microsoft.com/office/drawing/2014/main" id="{FD84F158-3C3E-78F6-D19D-AB2DC94A117C}"/>
              </a:ext>
            </a:extLst>
          </p:cNvPr>
          <p:cNvSpPr txBox="1"/>
          <p:nvPr/>
        </p:nvSpPr>
        <p:spPr>
          <a:xfrm>
            <a:off x="429768" y="4928616"/>
            <a:ext cx="184731" cy="369332"/>
          </a:xfrm>
          <a:prstGeom prst="rect">
            <a:avLst/>
          </a:prstGeom>
          <a:noFill/>
        </p:spPr>
        <p:txBody>
          <a:bodyPr wrap="none" rtlCol="0">
            <a:spAutoFit/>
          </a:bodyPr>
          <a:lstStyle/>
          <a:p>
            <a:endParaRPr lang="en-US" dirty="0"/>
          </a:p>
        </p:txBody>
      </p:sp>
      <p:sp>
        <p:nvSpPr>
          <p:cNvPr id="12" name="TextBox 11">
            <a:extLst>
              <a:ext uri="{FF2B5EF4-FFF2-40B4-BE49-F238E27FC236}">
                <a16:creationId xmlns:a16="http://schemas.microsoft.com/office/drawing/2014/main" id="{52D1399B-95C1-76D3-F14C-6B25954DCD52}"/>
              </a:ext>
            </a:extLst>
          </p:cNvPr>
          <p:cNvSpPr txBox="1"/>
          <p:nvPr/>
        </p:nvSpPr>
        <p:spPr>
          <a:xfrm>
            <a:off x="1060704" y="4407408"/>
            <a:ext cx="10049256" cy="2031325"/>
          </a:xfrm>
          <a:prstGeom prst="rect">
            <a:avLst/>
          </a:prstGeom>
          <a:noFill/>
        </p:spPr>
        <p:txBody>
          <a:bodyPr wrap="square" rtlCol="0">
            <a:spAutoFit/>
          </a:bodyPr>
          <a:lstStyle/>
          <a:p>
            <a:r>
              <a:rPr lang="en-US" dirty="0"/>
              <a:t>Fix applied: scalers must be fit on TRAINING data only</a:t>
            </a:r>
          </a:p>
          <a:p>
            <a:pPr marL="285750" indent="-285750">
              <a:buFont typeface="Arial" panose="020B0604020202020204" pitchFamily="34" charset="0"/>
              <a:buChar char="•"/>
            </a:pPr>
            <a:r>
              <a:rPr lang="en-US" dirty="0"/>
              <a:t>units=100 · dropout=0.2 · batch_size=32 · learning_rate=0.001</a:t>
            </a:r>
          </a:p>
          <a:p>
            <a:pPr marL="285750" indent="-285750">
              <a:buFont typeface="Arial" panose="020B0604020202020204" pitchFamily="34" charset="0"/>
              <a:buChar char="•"/>
            </a:pPr>
            <a:r>
              <a:rPr lang="en-US" dirty="0"/>
              <a:t>Each bank's MinMaxScaler was originally fit on its full series (train + test together) a data-leakage bug, since the scaler implicitly “knew” future prices. After fixing it to fit on training data only, R² dropped from an inflated ~0.996-0.999 to a more honest 0.9788. Still a strong result just an accurate one now, not an inflated one.</a:t>
            </a:r>
          </a:p>
          <a:p>
            <a:endParaRPr lang="en-US" dirty="0"/>
          </a:p>
        </p:txBody>
      </p:sp>
    </p:spTree>
    <p:extLst>
      <p:ext uri="{BB962C8B-B14F-4D97-AF65-F5344CB8AC3E}">
        <p14:creationId xmlns:p14="http://schemas.microsoft.com/office/powerpoint/2010/main" val="2620983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A469C-808E-B59B-B3F9-8CBBDD5DB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6340F-2959-A0C5-B7F3-461DE65D2587}"/>
              </a:ext>
            </a:extLst>
          </p:cNvPr>
          <p:cNvSpPr>
            <a:spLocks noGrp="1"/>
          </p:cNvSpPr>
          <p:nvPr>
            <p:ph type="title"/>
          </p:nvPr>
        </p:nvSpPr>
        <p:spPr>
          <a:xfrm>
            <a:off x="700635" y="914400"/>
            <a:ext cx="10691265" cy="905347"/>
          </a:xfrm>
        </p:spPr>
        <p:txBody>
          <a:bodyPr>
            <a:normAutofit/>
          </a:bodyPr>
          <a:lstStyle/>
          <a:p>
            <a:r>
              <a:rPr lang="en-US" dirty="0"/>
              <a:t>LSTM - Graphs</a:t>
            </a:r>
          </a:p>
        </p:txBody>
      </p:sp>
      <p:pic>
        <p:nvPicPr>
          <p:cNvPr id="5" name="Content Placeholder 4">
            <a:extLst>
              <a:ext uri="{FF2B5EF4-FFF2-40B4-BE49-F238E27FC236}">
                <a16:creationId xmlns:a16="http://schemas.microsoft.com/office/drawing/2014/main" id="{DFB96957-B290-210B-CC5C-32A53628312E}"/>
              </a:ext>
            </a:extLst>
          </p:cNvPr>
          <p:cNvPicPr>
            <a:picLocks noGrp="1" noChangeAspect="1"/>
          </p:cNvPicPr>
          <p:nvPr>
            <p:ph idx="1"/>
          </p:nvPr>
        </p:nvPicPr>
        <p:blipFill>
          <a:blip r:embed="rId2"/>
          <a:stretch>
            <a:fillRect/>
          </a:stretch>
        </p:blipFill>
        <p:spPr>
          <a:xfrm>
            <a:off x="1326940" y="1819276"/>
            <a:ext cx="9134583" cy="4010126"/>
          </a:xfrm>
          <a:prstGeom prst="rect">
            <a:avLst/>
          </a:prstGeom>
        </p:spPr>
      </p:pic>
    </p:spTree>
    <p:extLst>
      <p:ext uri="{BB962C8B-B14F-4D97-AF65-F5344CB8AC3E}">
        <p14:creationId xmlns:p14="http://schemas.microsoft.com/office/powerpoint/2010/main" val="3317056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5B031-EFA8-0088-519C-7D20EDA3C46C}"/>
              </a:ext>
            </a:extLst>
          </p:cNvPr>
          <p:cNvSpPr>
            <a:spLocks noGrp="1"/>
          </p:cNvSpPr>
          <p:nvPr>
            <p:ph type="title"/>
          </p:nvPr>
        </p:nvSpPr>
        <p:spPr>
          <a:xfrm>
            <a:off x="750367" y="172015"/>
            <a:ext cx="10691265" cy="582287"/>
          </a:xfrm>
        </p:spPr>
        <p:txBody>
          <a:bodyPr>
            <a:normAutofit fontScale="90000"/>
          </a:bodyPr>
          <a:lstStyle/>
          <a:p>
            <a:r>
              <a:rPr lang="en-US" dirty="0"/>
              <a:t>Hyperparameter Tuning</a:t>
            </a:r>
          </a:p>
        </p:txBody>
      </p:sp>
      <p:sp>
        <p:nvSpPr>
          <p:cNvPr id="3" name="Content Placeholder 2">
            <a:extLst>
              <a:ext uri="{FF2B5EF4-FFF2-40B4-BE49-F238E27FC236}">
                <a16:creationId xmlns:a16="http://schemas.microsoft.com/office/drawing/2014/main" id="{7F6962CD-91D6-4F76-B09A-DC7E57F8FAE4}"/>
              </a:ext>
            </a:extLst>
          </p:cNvPr>
          <p:cNvSpPr>
            <a:spLocks noGrp="1"/>
          </p:cNvSpPr>
          <p:nvPr>
            <p:ph idx="1"/>
          </p:nvPr>
        </p:nvSpPr>
        <p:spPr>
          <a:xfrm>
            <a:off x="750367" y="896112"/>
            <a:ext cx="3002231" cy="3739896"/>
          </a:xfrm>
        </p:spPr>
        <p:txBody>
          <a:bodyPr>
            <a:normAutofit lnSpcReduction="10000"/>
          </a:bodyPr>
          <a:lstStyle/>
          <a:p>
            <a:r>
              <a:rPr lang="en-US" b="1" dirty="0"/>
              <a:t>ARIMA</a:t>
            </a:r>
          </a:p>
          <a:p>
            <a:pPr lvl="1"/>
            <a:r>
              <a:rPr lang="en-US" dirty="0"/>
              <a:t>Grid search, per bank</a:t>
            </a:r>
          </a:p>
          <a:p>
            <a:pPr lvl="1"/>
            <a:r>
              <a:rPr lang="en-US" dirty="0"/>
              <a:t>p = 0–5, q = 0–5, d = 1 (fixed by ADF test)</a:t>
            </a:r>
          </a:p>
          <a:p>
            <a:pPr lvl="1"/>
            <a:r>
              <a:rPr lang="en-US" dirty="0"/>
              <a:t>36 combinations fit per bank\</a:t>
            </a:r>
          </a:p>
          <a:p>
            <a:pPr lvl="1"/>
            <a:r>
              <a:rPr lang="en-US" dirty="0"/>
              <a:t>Selected by lowest AIC</a:t>
            </a:r>
          </a:p>
          <a:p>
            <a:pPr lvl="1"/>
            <a:r>
              <a:rPr lang="en-US" dirty="0"/>
              <a:t>Lloyds (4,1,2) · Barclays (0,1,0) · Goldman (3,1,5)</a:t>
            </a:r>
          </a:p>
          <a:p>
            <a:endParaRPr lang="en-US" dirty="0"/>
          </a:p>
        </p:txBody>
      </p:sp>
      <p:sp>
        <p:nvSpPr>
          <p:cNvPr id="4" name="TextBox 3">
            <a:extLst>
              <a:ext uri="{FF2B5EF4-FFF2-40B4-BE49-F238E27FC236}">
                <a16:creationId xmlns:a16="http://schemas.microsoft.com/office/drawing/2014/main" id="{96A69E14-5D7B-0D66-6733-2D8F9333046E}"/>
              </a:ext>
            </a:extLst>
          </p:cNvPr>
          <p:cNvSpPr txBox="1"/>
          <p:nvPr/>
        </p:nvSpPr>
        <p:spPr>
          <a:xfrm>
            <a:off x="4048878" y="896112"/>
            <a:ext cx="3422210"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Random Forest</a:t>
            </a:r>
          </a:p>
          <a:p>
            <a:pPr marL="742950" lvl="1" indent="-285750">
              <a:buFont typeface="Arial" panose="020B0604020202020204" pitchFamily="34" charset="0"/>
              <a:buChar char="•"/>
            </a:pPr>
            <a:r>
              <a:rPr lang="en-US" dirty="0"/>
              <a:t>RandomizedSearchCV</a:t>
            </a:r>
          </a:p>
          <a:p>
            <a:pPr marL="742950" lvl="1" indent="-285750">
              <a:buFont typeface="Arial" panose="020B0604020202020204" pitchFamily="34" charset="0"/>
              <a:buChar char="•"/>
            </a:pPr>
            <a:r>
              <a:rPr lang="en-US" dirty="0"/>
              <a:t>20 candidates × 5 TimeSeriesSplit folds</a:t>
            </a:r>
          </a:p>
          <a:p>
            <a:pPr marL="742950" lvl="1" indent="-285750">
              <a:buFont typeface="Arial" panose="020B0604020202020204" pitchFamily="34" charset="0"/>
              <a:buChar char="•"/>
            </a:pPr>
            <a:r>
              <a:rPr lang="en-US" dirty="0"/>
              <a:t>n_estimators, max_depth, min_samples_split/leaf, max_features</a:t>
            </a:r>
          </a:p>
          <a:p>
            <a:pPr marL="742950" lvl="1" indent="-285750">
              <a:buFont typeface="Arial" panose="020B0604020202020204" pitchFamily="34" charset="0"/>
              <a:buChar char="•"/>
            </a:pPr>
            <a:r>
              <a:rPr lang="en-US" dirty="0"/>
              <a:t>Scored by neg. MAE</a:t>
            </a:r>
          </a:p>
          <a:p>
            <a:pPr marL="742950" lvl="1" indent="-285750">
              <a:buFont typeface="Arial" panose="020B0604020202020204" pitchFamily="34" charset="0"/>
              <a:buChar char="•"/>
            </a:pPr>
            <a:r>
              <a:rPr lang="en-US" dirty="0"/>
              <a:t>n_estimators=100, max_depth=None, min_samples_split=2, leaf=1 (CV MAE 1.69)</a:t>
            </a:r>
          </a:p>
          <a:p>
            <a:endParaRPr lang="en-US" dirty="0"/>
          </a:p>
        </p:txBody>
      </p:sp>
      <p:sp>
        <p:nvSpPr>
          <p:cNvPr id="5" name="TextBox 4">
            <a:extLst>
              <a:ext uri="{FF2B5EF4-FFF2-40B4-BE49-F238E27FC236}">
                <a16:creationId xmlns:a16="http://schemas.microsoft.com/office/drawing/2014/main" id="{58A97522-33F7-4F34-3C19-A1C54E103441}"/>
              </a:ext>
            </a:extLst>
          </p:cNvPr>
          <p:cNvSpPr txBox="1"/>
          <p:nvPr/>
        </p:nvSpPr>
        <p:spPr>
          <a:xfrm>
            <a:off x="7767368" y="896112"/>
            <a:ext cx="3675707"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LSTM</a:t>
            </a:r>
          </a:p>
          <a:p>
            <a:pPr marL="742950" lvl="1" indent="-285750">
              <a:buFont typeface="Arial" panose="020B0604020202020204" pitchFamily="34" charset="0"/>
              <a:buChar char="•"/>
            </a:pPr>
            <a:r>
              <a:rPr lang="en-US" dirty="0"/>
              <a:t>Manual search (4 configs)</a:t>
            </a:r>
          </a:p>
          <a:p>
            <a:pPr marL="742950" lvl="1" indent="-285750">
              <a:buFont typeface="Arial" panose="020B0604020202020204" pitchFamily="34" charset="0"/>
              <a:buChar char="•"/>
            </a:pPr>
            <a:r>
              <a:rPr lang="en-US" dirty="0"/>
              <a:t>units ∈ {32,64,100}, dropout ∈ {0.2,0.3}</a:t>
            </a:r>
          </a:p>
          <a:p>
            <a:pPr marL="742950" lvl="1" indent="-285750">
              <a:buFont typeface="Arial" panose="020B0604020202020204" pitchFamily="34" charset="0"/>
              <a:buChar char="•"/>
            </a:pPr>
            <a:r>
              <a:rPr lang="en-US" dirty="0"/>
              <a:t>batch_size ∈ {16,32}, lr ∈ {5e-4,1e-3}</a:t>
            </a:r>
          </a:p>
          <a:p>
            <a:pPr marL="742950" lvl="1" indent="-285750">
              <a:buFont typeface="Arial" panose="020B0604020202020204" pitchFamily="34" charset="0"/>
              <a:buChar char="•"/>
            </a:pPr>
            <a:r>
              <a:rPr lang="en-US" dirty="0"/>
              <a:t>15-epoch trial runs, held-out validation split</a:t>
            </a:r>
          </a:p>
          <a:p>
            <a:pPr marL="742950" lvl="1" indent="-285750">
              <a:buFont typeface="Arial" panose="020B0604020202020204" pitchFamily="34" charset="0"/>
              <a:buChar char="•"/>
            </a:pPr>
            <a:r>
              <a:rPr lang="en-US" dirty="0"/>
              <a:t>units=100, dropout=0.2, batch=32, lr=0.001 (val_loss 3.2e-4)</a:t>
            </a:r>
          </a:p>
        </p:txBody>
      </p:sp>
      <p:pic>
        <p:nvPicPr>
          <p:cNvPr id="7" name="Picture 6">
            <a:extLst>
              <a:ext uri="{FF2B5EF4-FFF2-40B4-BE49-F238E27FC236}">
                <a16:creationId xmlns:a16="http://schemas.microsoft.com/office/drawing/2014/main" id="{2C7B4C4C-9684-C364-A5AF-AB7F9DC05D6C}"/>
              </a:ext>
            </a:extLst>
          </p:cNvPr>
          <p:cNvPicPr>
            <a:picLocks noChangeAspect="1"/>
          </p:cNvPicPr>
          <p:nvPr/>
        </p:nvPicPr>
        <p:blipFill>
          <a:blip r:embed="rId2"/>
          <a:stretch>
            <a:fillRect/>
          </a:stretch>
        </p:blipFill>
        <p:spPr>
          <a:xfrm>
            <a:off x="4629862" y="4298885"/>
            <a:ext cx="2486161" cy="2074601"/>
          </a:xfrm>
          <a:prstGeom prst="rect">
            <a:avLst/>
          </a:prstGeom>
        </p:spPr>
      </p:pic>
      <p:pic>
        <p:nvPicPr>
          <p:cNvPr id="9" name="Picture 8">
            <a:extLst>
              <a:ext uri="{FF2B5EF4-FFF2-40B4-BE49-F238E27FC236}">
                <a16:creationId xmlns:a16="http://schemas.microsoft.com/office/drawing/2014/main" id="{7580194A-63EF-EB5E-5FA0-61D64983F439}"/>
              </a:ext>
            </a:extLst>
          </p:cNvPr>
          <p:cNvPicPr>
            <a:picLocks noChangeAspect="1"/>
          </p:cNvPicPr>
          <p:nvPr/>
        </p:nvPicPr>
        <p:blipFill>
          <a:blip r:embed="rId3"/>
          <a:stretch>
            <a:fillRect/>
          </a:stretch>
        </p:blipFill>
        <p:spPr>
          <a:xfrm>
            <a:off x="8504239" y="4035433"/>
            <a:ext cx="2486161" cy="2741480"/>
          </a:xfrm>
          <a:prstGeom prst="rect">
            <a:avLst/>
          </a:prstGeom>
        </p:spPr>
      </p:pic>
    </p:spTree>
    <p:extLst>
      <p:ext uri="{BB962C8B-B14F-4D97-AF65-F5344CB8AC3E}">
        <p14:creationId xmlns:p14="http://schemas.microsoft.com/office/powerpoint/2010/main" val="88275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D41EB-DC60-6BEE-63CF-99371DE21492}"/>
              </a:ext>
            </a:extLst>
          </p:cNvPr>
          <p:cNvSpPr>
            <a:spLocks noGrp="1"/>
          </p:cNvSpPr>
          <p:nvPr>
            <p:ph type="title"/>
          </p:nvPr>
        </p:nvSpPr>
        <p:spPr/>
        <p:txBody>
          <a:bodyPr>
            <a:normAutofit/>
          </a:bodyPr>
          <a:lstStyle/>
          <a:p>
            <a:r>
              <a:rPr lang="en-US" dirty="0"/>
              <a:t>Model Comparison</a:t>
            </a:r>
          </a:p>
        </p:txBody>
      </p:sp>
      <p:graphicFrame>
        <p:nvGraphicFramePr>
          <p:cNvPr id="4" name="Content Placeholder 3">
            <a:extLst>
              <a:ext uri="{FF2B5EF4-FFF2-40B4-BE49-F238E27FC236}">
                <a16:creationId xmlns:a16="http://schemas.microsoft.com/office/drawing/2014/main" id="{4BE5A0CE-67F6-169B-8A2E-F6A1B6CFD25C}"/>
              </a:ext>
            </a:extLst>
          </p:cNvPr>
          <p:cNvGraphicFramePr>
            <a:graphicFrameLocks noGrp="1"/>
          </p:cNvGraphicFramePr>
          <p:nvPr>
            <p:ph idx="1"/>
            <p:extLst>
              <p:ext uri="{D42A27DB-BD31-4B8C-83A1-F6EECF244321}">
                <p14:modId xmlns:p14="http://schemas.microsoft.com/office/powerpoint/2010/main" val="3709351637"/>
              </p:ext>
            </p:extLst>
          </p:nvPr>
        </p:nvGraphicFramePr>
        <p:xfrm>
          <a:off x="700088" y="2222500"/>
          <a:ext cx="10691810" cy="1752600"/>
        </p:xfrm>
        <a:graphic>
          <a:graphicData uri="http://schemas.openxmlformats.org/drawingml/2006/table">
            <a:tbl>
              <a:tblPr firstRow="1" bandRow="1">
                <a:tableStyleId>{5C22544A-7EE6-4342-B048-85BDC9FD1C3A}</a:tableStyleId>
              </a:tblPr>
              <a:tblGrid>
                <a:gridCol w="2138362">
                  <a:extLst>
                    <a:ext uri="{9D8B030D-6E8A-4147-A177-3AD203B41FA5}">
                      <a16:colId xmlns:a16="http://schemas.microsoft.com/office/drawing/2014/main" val="3504946175"/>
                    </a:ext>
                  </a:extLst>
                </a:gridCol>
                <a:gridCol w="2138362">
                  <a:extLst>
                    <a:ext uri="{9D8B030D-6E8A-4147-A177-3AD203B41FA5}">
                      <a16:colId xmlns:a16="http://schemas.microsoft.com/office/drawing/2014/main" val="601157311"/>
                    </a:ext>
                  </a:extLst>
                </a:gridCol>
                <a:gridCol w="2138362">
                  <a:extLst>
                    <a:ext uri="{9D8B030D-6E8A-4147-A177-3AD203B41FA5}">
                      <a16:colId xmlns:a16="http://schemas.microsoft.com/office/drawing/2014/main" val="2681050668"/>
                    </a:ext>
                  </a:extLst>
                </a:gridCol>
                <a:gridCol w="2138362">
                  <a:extLst>
                    <a:ext uri="{9D8B030D-6E8A-4147-A177-3AD203B41FA5}">
                      <a16:colId xmlns:a16="http://schemas.microsoft.com/office/drawing/2014/main" val="1033889151"/>
                    </a:ext>
                  </a:extLst>
                </a:gridCol>
                <a:gridCol w="2138362">
                  <a:extLst>
                    <a:ext uri="{9D8B030D-6E8A-4147-A177-3AD203B41FA5}">
                      <a16:colId xmlns:a16="http://schemas.microsoft.com/office/drawing/2014/main" val="1945369764"/>
                    </a:ext>
                  </a:extLst>
                </a:gridCol>
              </a:tblGrid>
              <a:tr h="370840">
                <a:tc>
                  <a:txBody>
                    <a:bodyPr/>
                    <a:lstStyle/>
                    <a:p>
                      <a:r>
                        <a:rPr lang="en-US" dirty="0"/>
                        <a:t>Model</a:t>
                      </a:r>
                    </a:p>
                  </a:txBody>
                  <a:tcPr/>
                </a:tc>
                <a:tc>
                  <a:txBody>
                    <a:bodyPr/>
                    <a:lstStyle/>
                    <a:p>
                      <a:r>
                        <a:rPr lang="en-US" dirty="0"/>
                        <a:t>MAE</a:t>
                      </a:r>
                    </a:p>
                  </a:txBody>
                  <a:tcPr/>
                </a:tc>
                <a:tc>
                  <a:txBody>
                    <a:bodyPr/>
                    <a:lstStyle/>
                    <a:p>
                      <a:r>
                        <a:rPr lang="en-US" dirty="0"/>
                        <a:t>RMSE</a:t>
                      </a:r>
                    </a:p>
                  </a:txBody>
                  <a:tcPr/>
                </a:tc>
                <a:tc>
                  <a:txBody>
                    <a:bodyPr/>
                    <a:lstStyle/>
                    <a:p>
                      <a:r>
                        <a:rPr lang="en-US" dirty="0"/>
                        <a:t>MAPE</a:t>
                      </a:r>
                    </a:p>
                  </a:txBody>
                  <a:tcPr/>
                </a:tc>
                <a:tc>
                  <a:txBody>
                    <a:bodyPr/>
                    <a:lstStyle/>
                    <a:p>
                      <a:r>
                        <a:rPr lang="en-US" dirty="0"/>
                        <a:t>R²</a:t>
                      </a:r>
                    </a:p>
                  </a:txBody>
                  <a:tcPr/>
                </a:tc>
                <a:extLst>
                  <a:ext uri="{0D108BD9-81ED-4DB2-BD59-A6C34878D82A}">
                    <a16:rowId xmlns:a16="http://schemas.microsoft.com/office/drawing/2014/main" val="1513635393"/>
                  </a:ext>
                </a:extLst>
              </a:tr>
              <a:tr h="370840">
                <a:tc>
                  <a:txBody>
                    <a:bodyPr/>
                    <a:lstStyle/>
                    <a:p>
                      <a:r>
                        <a:rPr lang="en-US" dirty="0"/>
                        <a:t>ARIMA (avg. of 3 banks)</a:t>
                      </a:r>
                    </a:p>
                  </a:txBody>
                  <a:tcPr/>
                </a:tc>
                <a:tc>
                  <a:txBody>
                    <a:bodyPr/>
                    <a:lstStyle/>
                    <a:p>
                      <a:r>
                        <a:rPr lang="en-US" dirty="0"/>
                        <a:t>6.41</a:t>
                      </a:r>
                    </a:p>
                  </a:txBody>
                  <a:tcPr/>
                </a:tc>
                <a:tc>
                  <a:txBody>
                    <a:bodyPr/>
                    <a:lstStyle/>
                    <a:p>
                      <a:r>
                        <a:rPr lang="en-US" dirty="0"/>
                        <a:t>8.96</a:t>
                      </a:r>
                    </a:p>
                  </a:txBody>
                  <a:tcPr/>
                </a:tc>
                <a:tc>
                  <a:txBody>
                    <a:bodyPr/>
                    <a:lstStyle/>
                    <a:p>
                      <a:r>
                        <a:rPr lang="en-US" dirty="0"/>
                        <a:t>1.61%</a:t>
                      </a:r>
                    </a:p>
                  </a:txBody>
                  <a:tcPr/>
                </a:tc>
                <a:tc>
                  <a:txBody>
                    <a:bodyPr/>
                    <a:lstStyle/>
                    <a:p>
                      <a:r>
                        <a:rPr lang="en-US" dirty="0"/>
                        <a:t>0.9929</a:t>
                      </a:r>
                    </a:p>
                  </a:txBody>
                  <a:tcPr/>
                </a:tc>
                <a:extLst>
                  <a:ext uri="{0D108BD9-81ED-4DB2-BD59-A6C34878D82A}">
                    <a16:rowId xmlns:a16="http://schemas.microsoft.com/office/drawing/2014/main" val="2984232894"/>
                  </a:ext>
                </a:extLst>
              </a:tr>
              <a:tr h="370840">
                <a:tc>
                  <a:txBody>
                    <a:bodyPr/>
                    <a:lstStyle/>
                    <a:p>
                      <a:r>
                        <a:rPr lang="en-US" dirty="0"/>
                        <a:t>Random Forest</a:t>
                      </a:r>
                    </a:p>
                  </a:txBody>
                  <a:tcPr/>
                </a:tc>
                <a:tc>
                  <a:txBody>
                    <a:bodyPr/>
                    <a:lstStyle/>
                    <a:p>
                      <a:r>
                        <a:rPr lang="en-US" dirty="0"/>
                        <a:t>5.25</a:t>
                      </a:r>
                    </a:p>
                  </a:txBody>
                  <a:tcPr/>
                </a:tc>
                <a:tc>
                  <a:txBody>
                    <a:bodyPr/>
                    <a:lstStyle/>
                    <a:p>
                      <a:r>
                        <a:rPr lang="en-US" dirty="0"/>
                        <a:t>8.85</a:t>
                      </a:r>
                    </a:p>
                  </a:txBody>
                  <a:tcPr/>
                </a:tc>
                <a:tc>
                  <a:txBody>
                    <a:bodyPr/>
                    <a:lstStyle/>
                    <a:p>
                      <a:r>
                        <a:rPr lang="en-US" dirty="0"/>
                        <a:t>--</a:t>
                      </a:r>
                    </a:p>
                  </a:txBody>
                  <a:tcPr/>
                </a:tc>
                <a:tc>
                  <a:txBody>
                    <a:bodyPr/>
                    <a:lstStyle/>
                    <a:p>
                      <a:r>
                        <a:rPr lang="en-US" dirty="0"/>
                        <a:t>0.9988</a:t>
                      </a:r>
                    </a:p>
                  </a:txBody>
                  <a:tcPr/>
                </a:tc>
                <a:extLst>
                  <a:ext uri="{0D108BD9-81ED-4DB2-BD59-A6C34878D82A}">
                    <a16:rowId xmlns:a16="http://schemas.microsoft.com/office/drawing/2014/main" val="3119290208"/>
                  </a:ext>
                </a:extLst>
              </a:tr>
              <a:tr h="370840">
                <a:tc>
                  <a:txBody>
                    <a:bodyPr/>
                    <a:lstStyle/>
                    <a:p>
                      <a:r>
                        <a:rPr lang="en-US" dirty="0"/>
                        <a:t>LSTM</a:t>
                      </a:r>
                    </a:p>
                  </a:txBody>
                  <a:tcPr/>
                </a:tc>
                <a:tc>
                  <a:txBody>
                    <a:bodyPr/>
                    <a:lstStyle/>
                    <a:p>
                      <a:r>
                        <a:rPr lang="en-US" dirty="0"/>
                        <a:t>20.19</a:t>
                      </a:r>
                    </a:p>
                  </a:txBody>
                  <a:tcPr/>
                </a:tc>
                <a:tc>
                  <a:txBody>
                    <a:bodyPr/>
                    <a:lstStyle/>
                    <a:p>
                      <a:r>
                        <a:rPr lang="en-US" dirty="0"/>
                        <a:t>37.64</a:t>
                      </a:r>
                    </a:p>
                  </a:txBody>
                  <a:tcPr/>
                </a:tc>
                <a:tc>
                  <a:txBody>
                    <a:bodyPr/>
                    <a:lstStyle/>
                    <a:p>
                      <a:r>
                        <a:rPr lang="en-US" dirty="0"/>
                        <a:t>--</a:t>
                      </a:r>
                    </a:p>
                  </a:txBody>
                  <a:tcPr/>
                </a:tc>
                <a:tc>
                  <a:txBody>
                    <a:bodyPr/>
                    <a:lstStyle/>
                    <a:p>
                      <a:r>
                        <a:rPr lang="en-US" dirty="0"/>
                        <a:t>0.9788</a:t>
                      </a:r>
                    </a:p>
                  </a:txBody>
                  <a:tcPr/>
                </a:tc>
                <a:extLst>
                  <a:ext uri="{0D108BD9-81ED-4DB2-BD59-A6C34878D82A}">
                    <a16:rowId xmlns:a16="http://schemas.microsoft.com/office/drawing/2014/main" val="3705822539"/>
                  </a:ext>
                </a:extLst>
              </a:tr>
            </a:tbl>
          </a:graphicData>
        </a:graphic>
      </p:graphicFrame>
      <p:sp>
        <p:nvSpPr>
          <p:cNvPr id="5" name="TextBox 4">
            <a:extLst>
              <a:ext uri="{FF2B5EF4-FFF2-40B4-BE49-F238E27FC236}">
                <a16:creationId xmlns:a16="http://schemas.microsoft.com/office/drawing/2014/main" id="{D93345C6-9278-8C7D-18D6-868F08023888}"/>
              </a:ext>
            </a:extLst>
          </p:cNvPr>
          <p:cNvSpPr txBox="1"/>
          <p:nvPr/>
        </p:nvSpPr>
        <p:spPr>
          <a:xfrm>
            <a:off x="700635" y="4472412"/>
            <a:ext cx="10426074" cy="923330"/>
          </a:xfrm>
          <a:prstGeom prst="rect">
            <a:avLst/>
          </a:prstGeom>
          <a:noFill/>
        </p:spPr>
        <p:txBody>
          <a:bodyPr wrap="square" rtlCol="0">
            <a:spAutoFit/>
          </a:bodyPr>
          <a:lstStyle/>
          <a:p>
            <a:r>
              <a:rPr lang="en-US" dirty="0"/>
              <a:t>Random Forest leads on R² (0.9988) after fixing a tree-model extrapolation bug, narrowly ahead of ARIMA (0.9929) and LSTM (0.9788, after fixing a separate data-leakage bug). All three are strong  ARIMA remains the cheapest and most interpretable for near-identical accuracy.</a:t>
            </a:r>
          </a:p>
        </p:txBody>
      </p:sp>
    </p:spTree>
    <p:extLst>
      <p:ext uri="{BB962C8B-B14F-4D97-AF65-F5344CB8AC3E}">
        <p14:creationId xmlns:p14="http://schemas.microsoft.com/office/powerpoint/2010/main" val="2837778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29BDC-4D4C-AE30-EE94-6AA55E64B277}"/>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973B51A8-B1C2-70F4-1CFA-CF4703E9D4A5}"/>
              </a:ext>
            </a:extLst>
          </p:cNvPr>
          <p:cNvSpPr>
            <a:spLocks noGrp="1"/>
          </p:cNvSpPr>
          <p:nvPr>
            <p:ph idx="1"/>
          </p:nvPr>
        </p:nvSpPr>
        <p:spPr/>
        <p:txBody>
          <a:bodyPr>
            <a:normAutofit fontScale="85000" lnSpcReduction="20000"/>
          </a:bodyPr>
          <a:lstStyle/>
          <a:p>
            <a:r>
              <a:rPr lang="en-US" dirty="0"/>
              <a:t>Results?</a:t>
            </a:r>
          </a:p>
          <a:p>
            <a:pPr lvl="1"/>
            <a:r>
              <a:rPr lang="en-US" dirty="0"/>
              <a:t>Yes, all three models now explain 97.9%–99.9% of variance (R²). That range only emerged after fixing three separate bugs; the raw numbers were badly misleading beforehand.</a:t>
            </a:r>
          </a:p>
          <a:p>
            <a:r>
              <a:rPr lang="en-US" dirty="0"/>
              <a:t>Why did Random Forest underperform?</a:t>
            </a:r>
          </a:p>
          <a:p>
            <a:pPr lvl="1"/>
            <a:r>
              <a:rPr lang="en-US" dirty="0"/>
              <a:t>RF first scored R²=0.498 predicting price LEVELS directly trees can't extrapolate beyond training range, and Goldman's test period is ~96% “record highs.” Predicting price CHANGE instead fixed it: R² 0.498 → 0.9988.</a:t>
            </a:r>
          </a:p>
          <a:p>
            <a:r>
              <a:rPr lang="en-US" dirty="0"/>
              <a:t>Is LSTM's R² really that impressive?</a:t>
            </a:r>
          </a:p>
          <a:p>
            <a:pPr lvl="1"/>
            <a:r>
              <a:rPr lang="en-US" dirty="0"/>
              <a:t>Each bank's scaler was fit on its FULL series (train+test), leaking future price info into training. Fixing it to fit on training data only dropped R² from an inflated ~0.996-0.999 to an honest 0.9788 still strong, now trustworthy.</a:t>
            </a:r>
          </a:p>
          <a:p>
            <a:r>
              <a:rPr lang="en-US" dirty="0"/>
              <a:t>What did debugging teach? </a:t>
            </a:r>
          </a:p>
          <a:p>
            <a:pPr lvl="1"/>
            <a:r>
              <a:rPr lang="en-US" dirty="0"/>
              <a:t>Three independent bugs (ARIMA numerical divergence, RF extrapolation, LSTM leakage) all looked like “model underperformance” until traced to root cause. Headline metrics alone don't catch this walk-forward validation, plot inspection, and train/test boundary checks did.</a:t>
            </a:r>
          </a:p>
        </p:txBody>
      </p:sp>
    </p:spTree>
    <p:extLst>
      <p:ext uri="{BB962C8B-B14F-4D97-AF65-F5344CB8AC3E}">
        <p14:creationId xmlns:p14="http://schemas.microsoft.com/office/powerpoint/2010/main" val="1647970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B58C-E582-0E6B-31C1-A2430ED0C019}"/>
              </a:ext>
            </a:extLst>
          </p:cNvPr>
          <p:cNvSpPr>
            <a:spLocks noGrp="1"/>
          </p:cNvSpPr>
          <p:nvPr>
            <p:ph type="title"/>
          </p:nvPr>
        </p:nvSpPr>
        <p:spPr/>
        <p:txBody>
          <a:bodyPr>
            <a:normAutofit/>
          </a:bodyPr>
          <a:lstStyle/>
          <a:p>
            <a:r>
              <a:rPr lang="en-US" dirty="0"/>
              <a:t>Summary &amp; Conclusions</a:t>
            </a:r>
          </a:p>
        </p:txBody>
      </p:sp>
      <p:sp>
        <p:nvSpPr>
          <p:cNvPr id="3" name="Content Placeholder 2">
            <a:extLst>
              <a:ext uri="{FF2B5EF4-FFF2-40B4-BE49-F238E27FC236}">
                <a16:creationId xmlns:a16="http://schemas.microsoft.com/office/drawing/2014/main" id="{FBA878B6-7388-0680-9EEF-55D60AF838C9}"/>
              </a:ext>
            </a:extLst>
          </p:cNvPr>
          <p:cNvSpPr>
            <a:spLocks noGrp="1"/>
          </p:cNvSpPr>
          <p:nvPr>
            <p:ph idx="1"/>
          </p:nvPr>
        </p:nvSpPr>
        <p:spPr/>
        <p:txBody>
          <a:bodyPr>
            <a:normAutofit/>
          </a:bodyPr>
          <a:lstStyle/>
          <a:p>
            <a:r>
              <a:rPr lang="en-US" dirty="0"/>
              <a:t>Applied ARIMA, Random Forest, and LSTM to forecast daily closing price from historical OHLCV data for 3 banks (Lloyds, Barclays, Goldman Sachs).</a:t>
            </a:r>
          </a:p>
          <a:p>
            <a:r>
              <a:rPr lang="en-US" dirty="0"/>
              <a:t>All three models tuned (ARIMA: per-bank grid search; RF: RandomizedSearchCV; LSTM: manual config search) and evaluated with MAE, RMSE, and R².</a:t>
            </a:r>
          </a:p>
          <a:p>
            <a:r>
              <a:rPr lang="en-US" dirty="0"/>
              <a:t>Fixed 3 separate bugs (ARIMA numerical divergence, RF extrapolation, LSTM data leakage) that were masking true performance; final R²: RF 0.9988, ARIMA 0.9929 (avg.), LSTM 0.9788 all genuinely strong.</a:t>
            </a:r>
          </a:p>
          <a:p>
            <a:r>
              <a:rPr lang="en-US" dirty="0"/>
              <a:t>Next steps: Implementing (Under process) </a:t>
            </a:r>
            <a:r>
              <a:rPr lang="en-US" dirty="0" err="1"/>
              <a:t>XGBoost</a:t>
            </a:r>
            <a:r>
              <a:rPr lang="en-US" dirty="0"/>
              <a:t> + GRU + </a:t>
            </a:r>
            <a:r>
              <a:rPr lang="en-US" dirty="0" err="1"/>
              <a:t>BiLSTM</a:t>
            </a:r>
            <a:r>
              <a:rPr lang="en-US" dirty="0"/>
              <a:t> + CNN-LSTM. So That </a:t>
            </a:r>
            <a:r>
              <a:rPr lang="en-US" dirty="0" err="1"/>
              <a:t>i</a:t>
            </a:r>
            <a:r>
              <a:rPr lang="en-US" dirty="0"/>
              <a:t> can use the advanced Deep learning models and see how it works.</a:t>
            </a:r>
          </a:p>
        </p:txBody>
      </p:sp>
    </p:spTree>
    <p:extLst>
      <p:ext uri="{BB962C8B-B14F-4D97-AF65-F5344CB8AC3E}">
        <p14:creationId xmlns:p14="http://schemas.microsoft.com/office/powerpoint/2010/main" val="2251876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86B4F-63A4-B9E9-AE4B-C15B0C5A81D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7A9A71D-A29A-3CA3-0617-C988ABD926BB}"/>
              </a:ext>
            </a:extLst>
          </p:cNvPr>
          <p:cNvSpPr>
            <a:spLocks noGrp="1"/>
          </p:cNvSpPr>
          <p:nvPr>
            <p:ph idx="1"/>
          </p:nvPr>
        </p:nvSpPr>
        <p:spPr/>
        <p:txBody>
          <a:bodyPr>
            <a:normAutofit fontScale="85000" lnSpcReduction="20000"/>
          </a:bodyPr>
          <a:lstStyle/>
          <a:p>
            <a:r>
              <a:rPr lang="en-US" dirty="0"/>
              <a:t>Min, J. (2020). Financial Market Trend Forecasting and Performance Analysis Using LSTM. arXiv:2004.01502. </a:t>
            </a:r>
            <a:r>
              <a:rPr lang="en-US" dirty="0">
                <a:hlinkClick r:id="rId2"/>
              </a:rPr>
              <a:t>https://arxiv.org/abs/2004.01502</a:t>
            </a:r>
            <a:r>
              <a:rPr lang="en-US" dirty="0"/>
              <a:t> </a:t>
            </a:r>
          </a:p>
          <a:p>
            <a:r>
              <a:rPr lang="en-US" dirty="0"/>
              <a:t>Box, G. E. P., Jenkins, G. M., Reinsel, G. C., &amp; Ljung, G. M. (2015). Time Series Analysis: Forecasting and Control (5th ed.). </a:t>
            </a:r>
            <a:r>
              <a:rPr lang="en-US" dirty="0">
                <a:hlinkClick r:id="rId3"/>
              </a:rPr>
              <a:t>https://www.researchgate.net/publication/299459188_Time_Series_Analysis_Forecasting_and_Control_5th_Edition_by_George_E_P_Box_Gwilym_M_Jenkins_Gregory_C_Reinsel_and_Greta_M_Ljung_2015_Published_by_John_Wiley_and_Sons_Inc_Hoboken_New_Jersey_pp_712_ISBN </a:t>
            </a:r>
            <a:endParaRPr lang="en-US" dirty="0"/>
          </a:p>
          <a:p>
            <a:r>
              <a:rPr lang="en-US" dirty="0"/>
              <a:t>Patel, Jigar &amp; Shah, Sahil &amp; Thakkar, Priyank &amp; Kotecha, Ketan. (2014). Predicting stock market index using fusion of machine learning techniques. Expert Systems with Applications. 42. 10.1016/j.eswa.2014.10.031. </a:t>
            </a:r>
            <a:r>
              <a:rPr lang="en-US" dirty="0">
                <a:hlinkClick r:id="rId4"/>
              </a:rPr>
              <a:t>https://www.researchgate.net/publication/268823054_Predicting_stock_market_index_using_fusion_of_machine_learning_techniques</a:t>
            </a:r>
            <a:r>
              <a:rPr lang="en-US" dirty="0"/>
              <a:t> </a:t>
            </a:r>
          </a:p>
          <a:p>
            <a:r>
              <a:rPr lang="en-US" dirty="0"/>
              <a:t>yfinance (2024). Yahoo! Finance market data downloader [Python package]. </a:t>
            </a:r>
            <a:r>
              <a:rPr lang="en-US" dirty="0">
                <a:hlinkClick r:id="rId5"/>
              </a:rPr>
              <a:t>https://github.com/ranaroussi/yfinance</a:t>
            </a:r>
            <a:r>
              <a:rPr lang="en-US" dirty="0"/>
              <a:t> </a:t>
            </a:r>
          </a:p>
        </p:txBody>
      </p:sp>
    </p:spTree>
    <p:extLst>
      <p:ext uri="{BB962C8B-B14F-4D97-AF65-F5344CB8AC3E}">
        <p14:creationId xmlns:p14="http://schemas.microsoft.com/office/powerpoint/2010/main" val="1952711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1A9604-54D9-75C8-E0A4-798893BB11E8}"/>
              </a:ext>
            </a:extLst>
          </p:cNvPr>
          <p:cNvSpPr/>
          <p:nvPr/>
        </p:nvSpPr>
        <p:spPr>
          <a:xfrm>
            <a:off x="800102" y="960594"/>
            <a:ext cx="5828114" cy="4936812"/>
          </a:xfrm>
          <a:prstGeom prst="rect">
            <a:avLst/>
          </a:prstGeom>
        </p:spPr>
        <p:txBody>
          <a:bodyPr vert="horz" lIns="91440" tIns="45720" rIns="91440" bIns="45720" rtlCol="0" anchor="ctr">
            <a:normAutofit/>
          </a:bodyPr>
          <a:lstStyle/>
          <a:p>
            <a:pPr algn="r">
              <a:spcBef>
                <a:spcPct val="0"/>
              </a:spcBef>
              <a:spcAft>
                <a:spcPts val="600"/>
              </a:spcAft>
            </a:pPr>
            <a:r>
              <a:rPr lang="en-US" sz="6000" b="0" cap="all" spc="30">
                <a:ln w="0"/>
                <a:effectLst>
                  <a:outerShdw blurRad="38100" dist="19050" dir="2700000" algn="tl" rotWithShape="0">
                    <a:schemeClr val="dk1">
                      <a:alpha val="40000"/>
                    </a:schemeClr>
                  </a:outerShdw>
                </a:effectLst>
                <a:latin typeface="+mj-lt"/>
                <a:ea typeface="+mj-ea"/>
                <a:cs typeface="+mj-cs"/>
              </a:rPr>
              <a:t>Thank You</a:t>
            </a:r>
          </a:p>
        </p:txBody>
      </p:sp>
      <p:cxnSp>
        <p:nvCxnSpPr>
          <p:cNvPr id="15" name="Straight Connector 14">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90099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848</TotalTime>
  <Words>2599</Words>
  <Application>Microsoft Office PowerPoint</Application>
  <PresentationFormat>Widescreen</PresentationFormat>
  <Paragraphs>246</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Calisto MT</vt:lpstr>
      <vt:lpstr>Cambria</vt:lpstr>
      <vt:lpstr>Univers Condensed</vt:lpstr>
      <vt:lpstr>ChronicleVTI</vt:lpstr>
      <vt:lpstr>Real Time Financial Performance Analytics Dashboard</vt:lpstr>
      <vt:lpstr>Motivation </vt:lpstr>
      <vt:lpstr>Introduction</vt:lpstr>
      <vt:lpstr>Research Question</vt:lpstr>
      <vt:lpstr>Overview of Related Work</vt:lpstr>
      <vt:lpstr>Difference we are doing in our project</vt:lpstr>
      <vt:lpstr>Dataset</vt:lpstr>
      <vt:lpstr>Ethical Considerations </vt:lpstr>
      <vt:lpstr>Exploratory Data Analysis </vt:lpstr>
      <vt:lpstr>Trading volume Comparision</vt:lpstr>
      <vt:lpstr>Volatility Comparision</vt:lpstr>
      <vt:lpstr>Pre-processing &amp; Feature Engineering </vt:lpstr>
      <vt:lpstr>Models Used</vt:lpstr>
      <vt:lpstr>ARIMA — Model &amp; Results</vt:lpstr>
      <vt:lpstr>ARIMA Final Results</vt:lpstr>
      <vt:lpstr>Random Forest - Model &amp; Results</vt:lpstr>
      <vt:lpstr>Random Forest - Graphs</vt:lpstr>
      <vt:lpstr>LSTM - Model &amp; Results</vt:lpstr>
      <vt:lpstr>LSTM - Graphs</vt:lpstr>
      <vt:lpstr>Hyperparameter Tuning</vt:lpstr>
      <vt:lpstr>Model Comparison</vt:lpstr>
      <vt:lpstr>Analysis</vt:lpstr>
      <vt:lpstr>Summary &amp; Conclusions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VK</dc:creator>
  <cp:revision>1</cp:revision>
  <dcterms:created xsi:type="dcterms:W3CDTF">2026-07-14T02:19:28Z</dcterms:created>
  <dcterms:modified xsi:type="dcterms:W3CDTF">2026-07-15T12:51:04Z</dcterms:modified>
</cp:coreProperties>
</file>